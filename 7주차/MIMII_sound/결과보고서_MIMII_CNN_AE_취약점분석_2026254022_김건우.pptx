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D74B1-E802-4EDB-89FF-F8D9197B0666}" v="1" dt="2026-04-28T08:56:43.1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nwoo kim" userId="f81397dfb3116dc6" providerId="LiveId" clId="{46C8264E-75AD-42DD-AD5E-6711A97F4839}"/>
    <pc:docChg chg="custSel modSld">
      <pc:chgData name="gunwoo kim" userId="f81397dfb3116dc6" providerId="LiveId" clId="{46C8264E-75AD-42DD-AD5E-6711A97F4839}" dt="2026-04-28T08:57:23.255" v="7" actId="478"/>
      <pc:docMkLst>
        <pc:docMk/>
      </pc:docMkLst>
      <pc:sldChg chg="delSp modSp mod">
        <pc:chgData name="gunwoo kim" userId="f81397dfb3116dc6" providerId="LiveId" clId="{46C8264E-75AD-42DD-AD5E-6711A97F4839}" dt="2026-04-28T08:56:48.275" v="5" actId="478"/>
        <pc:sldMkLst>
          <pc:docMk/>
          <pc:sldMk cId="0" sldId="256"/>
        </pc:sldMkLst>
        <pc:spChg chg="del">
          <ac:chgData name="gunwoo kim" userId="f81397dfb3116dc6" providerId="LiveId" clId="{46C8264E-75AD-42DD-AD5E-6711A97F4839}" dt="2026-04-28T08:55:54.888" v="1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gunwoo kim" userId="f81397dfb3116dc6" providerId="LiveId" clId="{46C8264E-75AD-42DD-AD5E-6711A97F4839}" dt="2026-04-28T08:56:07.695" v="3" actId="1076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gunwoo kim" userId="f81397dfb3116dc6" providerId="LiveId" clId="{46C8264E-75AD-42DD-AD5E-6711A97F4839}" dt="2026-04-28T08:56:48.275" v="5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gunwoo kim" userId="f81397dfb3116dc6" providerId="LiveId" clId="{46C8264E-75AD-42DD-AD5E-6711A97F4839}" dt="2026-04-28T08:56:43.163" v="4"/>
          <ac:spMkLst>
            <pc:docMk/>
            <pc:sldMk cId="0" sldId="256"/>
            <ac:spMk id="7" creationId="{00000000-0000-0000-0000-000000000000}"/>
          </ac:spMkLst>
        </pc:spChg>
      </pc:sldChg>
      <pc:sldChg chg="delSp modSp mod">
        <pc:chgData name="gunwoo kim" userId="f81397dfb3116dc6" providerId="LiveId" clId="{46C8264E-75AD-42DD-AD5E-6711A97F4839}" dt="2026-04-28T08:57:23.255" v="7" actId="478"/>
        <pc:sldMkLst>
          <pc:docMk/>
          <pc:sldMk cId="0" sldId="265"/>
        </pc:sldMkLst>
        <pc:spChg chg="mod">
          <ac:chgData name="gunwoo kim" userId="f81397dfb3116dc6" providerId="LiveId" clId="{46C8264E-75AD-42DD-AD5E-6711A97F4839}" dt="2026-04-28T08:57:17.637" v="6" actId="20577"/>
          <ac:spMkLst>
            <pc:docMk/>
            <pc:sldMk cId="0" sldId="265"/>
            <ac:spMk id="5" creationId="{00000000-0000-0000-0000-000000000000}"/>
          </ac:spMkLst>
        </pc:spChg>
        <pc:spChg chg="del">
          <ac:chgData name="gunwoo kim" userId="f81397dfb3116dc6" providerId="LiveId" clId="{46C8264E-75AD-42DD-AD5E-6711A97F4839}" dt="2026-04-28T08:57:23.255" v="7" actId="478"/>
          <ac:spMkLst>
            <pc:docMk/>
            <pc:sldMk cId="0" sldId="265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MIMII 데이터셋 기반 산업 밸브 음향 이상탐지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16352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200" b="0" dirty="0">
                <a:solidFill>
                  <a:srgbClr val="E87A2B"/>
                </a:solidFill>
                <a:latin typeface="맑은 고딕"/>
              </a:rPr>
              <a:t>CNN </a:t>
            </a:r>
            <a:r>
              <a:rPr sz="2200" b="0" dirty="0" err="1">
                <a:solidFill>
                  <a:srgbClr val="E87A2B"/>
                </a:solidFill>
                <a:latin typeface="맑은 고딕"/>
              </a:rPr>
              <a:t>오토인코더</a:t>
            </a:r>
            <a:r>
              <a:rPr sz="2200" b="0" dirty="0">
                <a:solidFill>
                  <a:srgbClr val="E87A2B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E87A2B"/>
                </a:solidFill>
                <a:latin typeface="맑은 고딕"/>
              </a:rPr>
              <a:t>모델의</a:t>
            </a:r>
            <a:r>
              <a:rPr sz="2200" b="0" dirty="0">
                <a:solidFill>
                  <a:srgbClr val="E87A2B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E87A2B"/>
                </a:solidFill>
                <a:latin typeface="맑은 고딕"/>
              </a:rPr>
              <a:t>구조와</a:t>
            </a:r>
            <a:r>
              <a:rPr sz="2200" b="0" dirty="0">
                <a:solidFill>
                  <a:srgbClr val="E87A2B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E87A2B"/>
                </a:solidFill>
                <a:latin typeface="맑은 고딕"/>
              </a:rPr>
              <a:t>취약점</a:t>
            </a:r>
            <a:r>
              <a:rPr sz="2200" b="0" dirty="0">
                <a:solidFill>
                  <a:srgbClr val="E87A2B"/>
                </a:solidFill>
                <a:latin typeface="맑은 고딕"/>
              </a:rPr>
              <a:t> </a:t>
            </a:r>
            <a:r>
              <a:rPr sz="2200" b="0" dirty="0" err="1">
                <a:solidFill>
                  <a:srgbClr val="E87A2B"/>
                </a:solidFill>
                <a:latin typeface="맑은 고딕"/>
              </a:rPr>
              <a:t>분석</a:t>
            </a:r>
            <a:endParaRPr sz="2200" b="0" dirty="0">
              <a:solidFill>
                <a:srgbClr val="E87A2B"/>
              </a:solidFill>
              <a:latin typeface="맑은 고딕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515600" cy="590931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ko-KR" altLang="en-US" sz="1200" dirty="0">
                <a:solidFill>
                  <a:srgbClr val="7B8DA8"/>
                </a:solidFill>
                <a:latin typeface="Calibri" pitchFamily="34" charset="0"/>
                <a:cs typeface="Calibri" pitchFamily="34" charset="-120"/>
              </a:rPr>
              <a:t>제조 데이터 분석과 최적화</a:t>
            </a:r>
            <a:endParaRPr lang="en-US" altLang="ko-KR" sz="1200" dirty="0">
              <a:solidFill>
                <a:srgbClr val="7B8DA8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ko-KR" altLang="en-US" sz="1200" dirty="0">
                <a:solidFill>
                  <a:srgbClr val="7B8DA8"/>
                </a:solidFill>
                <a:latin typeface="Calibri" pitchFamily="34" charset="0"/>
                <a:cs typeface="Calibri" pitchFamily="34" charset="-120"/>
              </a:rPr>
              <a:t>학번 </a:t>
            </a:r>
            <a:r>
              <a:rPr lang="en-US" altLang="ko-KR" sz="1200" dirty="0">
                <a:solidFill>
                  <a:srgbClr val="7B8DA8"/>
                </a:solidFill>
                <a:latin typeface="Calibri" pitchFamily="34" charset="0"/>
                <a:cs typeface="Calibri" pitchFamily="34" charset="-120"/>
              </a:rPr>
              <a:t>: 2026254022</a:t>
            </a:r>
          </a:p>
          <a:p>
            <a:r>
              <a:rPr lang="ko-KR" altLang="en-US" sz="1200" dirty="0">
                <a:solidFill>
                  <a:srgbClr val="7B8DA8"/>
                </a:solidFill>
                <a:latin typeface="Calibri" pitchFamily="34" charset="0"/>
                <a:cs typeface="Calibri" pitchFamily="34" charset="-120"/>
              </a:rPr>
              <a:t>이름 </a:t>
            </a:r>
            <a:r>
              <a:rPr lang="en-US" altLang="ko-KR" sz="1200" dirty="0">
                <a:solidFill>
                  <a:srgbClr val="7B8DA8"/>
                </a:solidFill>
                <a:latin typeface="Calibri" pitchFamily="34" charset="0"/>
                <a:cs typeface="Calibri" pitchFamily="34" charset="-120"/>
              </a:rPr>
              <a:t>: </a:t>
            </a:r>
            <a:r>
              <a:rPr lang="ko-KR" altLang="en-US" sz="1200" dirty="0">
                <a:solidFill>
                  <a:srgbClr val="7B8DA8"/>
                </a:solidFill>
                <a:latin typeface="Calibri" pitchFamily="34" charset="0"/>
                <a:cs typeface="Calibri" pitchFamily="34" charset="-120"/>
              </a:rPr>
              <a:t>김건우</a:t>
            </a:r>
            <a:endParaRPr lang="en-US" altLang="ko-KR" sz="1200" dirty="0">
              <a:solidFill>
                <a:srgbClr val="7B8DA8"/>
              </a:solidFill>
              <a:latin typeface="Calibri" pitchFamily="34" charset="0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목  차  (Agenda)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87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>
                <a:solidFill>
                  <a:srgbClr val="0B2A4A"/>
                </a:solidFill>
                <a:latin typeface="맑은 고딕"/>
              </a:rPr>
              <a:t>•  1.  프로젝트 개요 및 목적</a:t>
            </a:r>
          </a:p>
          <a:p>
            <a:pPr algn="l">
              <a:spcAft>
                <a:spcPts val="400"/>
              </a:spcAft>
            </a:pPr>
            <a:r>
              <a:rPr sz="2200">
                <a:solidFill>
                  <a:srgbClr val="0B2A4A"/>
                </a:solidFill>
                <a:latin typeface="맑은 고딕"/>
              </a:rPr>
              <a:t>•  2.  파이프라인 구조 (Step 1 ~ Step 4)</a:t>
            </a:r>
          </a:p>
          <a:p>
            <a:pPr algn="l">
              <a:spcAft>
                <a:spcPts val="400"/>
              </a:spcAft>
            </a:pPr>
            <a:r>
              <a:rPr sz="2200">
                <a:solidFill>
                  <a:srgbClr val="0B2A4A"/>
                </a:solidFill>
                <a:latin typeface="맑은 고딕"/>
              </a:rPr>
              <a:t>•  3.  CNN 오토인코더 아키텍처</a:t>
            </a:r>
          </a:p>
          <a:p>
            <a:pPr algn="l">
              <a:spcAft>
                <a:spcPts val="400"/>
              </a:spcAft>
            </a:pPr>
            <a:r>
              <a:rPr sz="2200">
                <a:solidFill>
                  <a:srgbClr val="0B2A4A"/>
                </a:solidFill>
                <a:latin typeface="맑은 고딕"/>
              </a:rPr>
              <a:t>•  4.  CNN 오토인코더 모델의 취약점 (10가지)</a:t>
            </a:r>
          </a:p>
          <a:p>
            <a:pPr algn="l">
              <a:spcAft>
                <a:spcPts val="400"/>
              </a:spcAft>
            </a:pPr>
            <a:r>
              <a:rPr sz="2200">
                <a:solidFill>
                  <a:srgbClr val="0B2A4A"/>
                </a:solidFill>
                <a:latin typeface="맑은 고딕"/>
              </a:rPr>
              <a:t>•  5.  개선 방향 및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1. 프로젝트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87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222B3A"/>
                </a:solidFill>
                <a:latin typeface="맑은 고딕"/>
              </a:rPr>
              <a:t>MIMII 데이터셋(0dB, valve id_02) 정상 작동음 학습 → 복원오차 기반 비지도 이상탐지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3749039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3474719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맑은 고딕"/>
              </a:rPr>
              <a:t>데이터셋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347471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222B3A"/>
                </a:solidFill>
                <a:latin typeface="맑은 고딕"/>
              </a:rPr>
              <a:t>•  MIMII (Malfunctioning Industrial Machine)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22B3A"/>
                </a:solidFill>
                <a:latin typeface="맑은 고딕"/>
              </a:rPr>
              <a:t>•  장비 종류: Valve (밸브)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22B3A"/>
                </a:solidFill>
                <a:latin typeface="맑은 고딕"/>
              </a:rPr>
              <a:t>•  기기 ID: id_02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22B3A"/>
                </a:solidFill>
                <a:latin typeface="맑은 고딕"/>
              </a:rPr>
              <a:t>•  환경 노이즈: 0 dB SNR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22B3A"/>
                </a:solidFill>
                <a:latin typeface="맑은 고딕"/>
              </a:rPr>
              <a:t>•  샘플링: 16,000 Hz, 10초 단위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554480"/>
            <a:ext cx="3749039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43400" y="1645920"/>
            <a:ext cx="3474719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맑은 고딕"/>
              </a:rPr>
              <a:t>접근 방법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57400"/>
            <a:ext cx="347471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222B3A"/>
                </a:solidFill>
                <a:latin typeface="맑은 고딕"/>
              </a:rPr>
              <a:t>•  정상음만 학습 (Unsupervised)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22B3A"/>
                </a:solidFill>
                <a:latin typeface="맑은 고딕"/>
              </a:rPr>
              <a:t>•  Mel-Spectrogram → 2D 이미지 변환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22B3A"/>
                </a:solidFill>
                <a:latin typeface="맑은 고딕"/>
              </a:rPr>
              <a:t>•  CNN AutoEncoder로 복원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22B3A"/>
                </a:solidFill>
                <a:latin typeface="맑은 고딕"/>
              </a:rPr>
              <a:t>•  복원오차(MSE) 임계값 비교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22B3A"/>
                </a:solidFill>
                <a:latin typeface="맑은 고딕"/>
              </a:rPr>
              <a:t>•  초과 시 ABNORMAL로 판정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749039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80" y="1645920"/>
            <a:ext cx="3474719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맑은 고딕"/>
              </a:rPr>
              <a:t>기대 효과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057400"/>
            <a:ext cx="347471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>
                <a:solidFill>
                  <a:srgbClr val="222B3A"/>
                </a:solidFill>
                <a:latin typeface="맑은 고딕"/>
              </a:rPr>
              <a:t>•  비정상 데이터 부족 환경 대응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22B3A"/>
                </a:solidFill>
                <a:latin typeface="맑은 고딕"/>
              </a:rPr>
              <a:t>•  결함 라벨링 비용 절감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22B3A"/>
                </a:solidFill>
                <a:latin typeface="맑은 고딕"/>
              </a:rPr>
              <a:t>•  실시간 모니터링 가능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22B3A"/>
                </a:solidFill>
                <a:latin typeface="맑은 고딕"/>
              </a:rPr>
              <a:t>•  다양한 결함 유형 일반 탐지</a:t>
            </a:r>
          </a:p>
          <a:p>
            <a:pPr algn="l">
              <a:spcAft>
                <a:spcPts val="400"/>
              </a:spcAft>
            </a:pPr>
            <a:r>
              <a:rPr sz="1100">
                <a:solidFill>
                  <a:srgbClr val="222B3A"/>
                </a:solidFill>
                <a:latin typeface="맑은 고딕"/>
              </a:rPr>
              <a:t>•  예지보전(PdM) 기반 마련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114800"/>
            <a:ext cx="114300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1">
                <a:solidFill>
                  <a:srgbClr val="E87A2B"/>
                </a:solidFill>
                <a:latin typeface="맑은 고딕"/>
              </a:rPr>
              <a:t>■ 핵심 가설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480560"/>
            <a:ext cx="11430000" cy="20116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>
                <a:solidFill>
                  <a:srgbClr val="222B3A"/>
                </a:solidFill>
                <a:latin typeface="맑은 고딕"/>
              </a:rPr>
              <a:t>정상 데이터로만 학습된 오토인코더는 정상 패턴을 잘 복원하지만, 학습되지 않은 비정상 패턴을 입력하면 복원에 실패하여 MSE가 커진다. 이 차이를 이용해 라벨 없이도 결함을 탐지할 수 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2. 파이프라인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87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222B3A"/>
                </a:solidFill>
                <a:latin typeface="맑은 고딕"/>
              </a:rPr>
              <a:t>Step 1 (EDA) → Step 2 (학습) → Step 3 (평가) → Step 4 (실시간 추론)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2606040" cy="2103120"/>
          </a:xfrm>
          <a:prstGeom prst="round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26060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EDA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260604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Waveform / STFT /
Mel-Spectrogram
시각화·청음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63240" y="2743200"/>
            <a:ext cx="228600" cy="457200"/>
          </a:xfrm>
          <a:prstGeom prst="rightArrow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91840" y="1828800"/>
            <a:ext cx="2606040" cy="210312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0" y="1965960"/>
            <a:ext cx="26060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331720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880360"/>
            <a:ext cx="260604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정상음만으로
CNN AE 학습
50 epoch, MSE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97880" y="2743200"/>
            <a:ext cx="228600" cy="457200"/>
          </a:xfrm>
          <a:prstGeom prst="rightArrow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26480" y="1828800"/>
            <a:ext cx="2606040" cy="2103120"/>
          </a:xfrm>
          <a:prstGeom prst="roundRect">
            <a:avLst/>
          </a:prstGeom>
          <a:solidFill>
            <a:srgbClr val="E87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26480" y="1965960"/>
            <a:ext cx="26060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331720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880360"/>
            <a:ext cx="260604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정상/비정상 50개
복원오차 분포
ROC·F1 임계값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32520" y="2743200"/>
            <a:ext cx="228600" cy="457200"/>
          </a:xfrm>
          <a:prstGeom prst="rightArrow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961120" y="1828800"/>
            <a:ext cx="2606040" cy="210312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0" y="1965960"/>
            <a:ext cx="26060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331720"/>
            <a:ext cx="26060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Inference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880360"/>
            <a:ext cx="260604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2초 슬라이딩 윈도우
실시간 모니터링
임계값 0.0016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9768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600" b="1">
                <a:solidFill>
                  <a:srgbClr val="E87A2B"/>
                </a:solidFill>
                <a:latin typeface="맑은 고딕"/>
              </a:rPr>
              <a:t>■ 데이터 흐름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663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22B3A"/>
                </a:solidFill>
                <a:latin typeface="맑은 고딕"/>
              </a:rPr>
              <a:t>•  입력: 16kHz WAV → 128-band Mel-Spectrogram (n_mels=128)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B3A"/>
                </a:solidFill>
                <a:latin typeface="맑은 고딕"/>
              </a:rPr>
              <a:t>•  전처리: power_to_db(ref=np.max) → (mel_db + 80) / 80 정규화 → 128프레임으로 자르기/패딩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B3A"/>
                </a:solidFill>
                <a:latin typeface="맑은 고딕"/>
              </a:rPr>
              <a:t>•  텐서 형태: (1, 128, 128) — 단일 채널 2D 이미지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B3A"/>
                </a:solidFill>
                <a:latin typeface="맑은 고딕"/>
              </a:rPr>
              <a:t>•  출력: Sigmoid로 0~1 범위 복원 이미지 → MSE 오차 계산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3. CNN 오토인코더 아키텍처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87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222B3A"/>
                </a:solidFill>
                <a:latin typeface="맑은 고딕"/>
              </a:rPr>
              <a:t>5층 Conv 인코더 → 64차원 잠재공간 → 5층 ConvTranspose 디코더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645920"/>
            <a:ext cx="4572000" cy="438912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4572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ENCODER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맑은 고딕"/>
              </a:rPr>
              <a:t>•  Input  (1, 128, 128)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맑은 고딕"/>
              </a:rPr>
              <a:t>•  Conv2d(1→16,  s=2)  + ReLU + BN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맑은 고딕"/>
              </a:rPr>
              <a:t>•  Conv2d(16→32, s=2)  + ReLU + BN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맑은 고딕"/>
              </a:rPr>
              <a:t>•  Conv2d(32→64, s=2)  + ReLU + BN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맑은 고딕"/>
              </a:rPr>
              <a:t>•  Conv2d(64→128, s=2) + ReLU + BN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맑은 고딕"/>
              </a:rPr>
              <a:t>•  Conv2d(128→256, s=2) + ReLU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맑은 고딕"/>
              </a:rPr>
              <a:t>•  Flatten → Linear(4096 → 64)</a:t>
            </a:r>
          </a:p>
        </p:txBody>
      </p:sp>
      <p:sp>
        <p:nvSpPr>
          <p:cNvPr id="10" name="Oval 9"/>
          <p:cNvSpPr/>
          <p:nvPr/>
        </p:nvSpPr>
        <p:spPr>
          <a:xfrm>
            <a:off x="5120640" y="3108960"/>
            <a:ext cx="1920240" cy="1463040"/>
          </a:xfrm>
          <a:prstGeom prst="ellipse">
            <a:avLst/>
          </a:prstGeom>
          <a:solidFill>
            <a:srgbClr val="E87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20640" y="3246120"/>
            <a:ext cx="19202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Latent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611880"/>
            <a:ext cx="19202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z ∈ ℝ⁶⁴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4023360"/>
            <a:ext cx="192024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(64-dim)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1645920"/>
            <a:ext cx="4572000" cy="4389120"/>
          </a:xfrm>
          <a:prstGeom prst="round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0" y="1783080"/>
            <a:ext cx="4572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DECODER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28600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맑은 고딕"/>
              </a:rPr>
              <a:t>•  Linear(64 → 4096) + ReLU → reshape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맑은 고딕"/>
              </a:rPr>
              <a:t>•  ConvT(256→128, s=2) + ReLU + BN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맑은 고딕"/>
              </a:rPr>
              <a:t>•  ConvT(128→64,  s=2) + ReLU + BN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맑은 고딕"/>
              </a:rPr>
              <a:t>•  ConvT(64→32,   s=2) + ReLU + BN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맑은 고딕"/>
              </a:rPr>
              <a:t>•  ConvT(32→16,   s=2) + ReLU + BN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맑은 고딕"/>
              </a:rPr>
              <a:t>•  ConvT(16→1,    s=2) + Sigmoid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FFFFFF"/>
                </a:solidFill>
                <a:latin typeface="맑은 고딕"/>
              </a:rPr>
              <a:t>•  Output (1, 128, 128)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937760" y="3657600"/>
            <a:ext cx="228600" cy="365760"/>
          </a:xfrm>
          <a:prstGeom prst="rightArrow">
            <a:avLst/>
          </a:prstGeom>
          <a:solidFill>
            <a:srgbClr val="22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7040880" y="3657600"/>
            <a:ext cx="228600" cy="365760"/>
          </a:xfrm>
          <a:prstGeom prst="rightArrow">
            <a:avLst/>
          </a:prstGeom>
          <a:solidFill>
            <a:srgbClr val="22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6217920"/>
            <a:ext cx="1143000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>
                <a:solidFill>
                  <a:srgbClr val="0B2A4A"/>
                </a:solidFill>
                <a:latin typeface="맑은 고딕"/>
              </a:rPr>
              <a:t>▶ 손실 함수: MSELoss   |   최적화: Adam(lr=0.001)   |   학습 epoch: 50   |   출력 정규화: Sigmoid (0~1)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4. CNN 오토인코더 모델의 취약점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87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222B3A"/>
                </a:solidFill>
                <a:latin typeface="맑은 고딕"/>
              </a:rPr>
              <a:t>본 프로젝트(MIMII valve id_02 / 0dB)에서 식별된 10가지 핵심 약점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83080"/>
            <a:ext cx="224028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48640" y="192024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947672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965960"/>
            <a:ext cx="14173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맑은 고딕"/>
              </a:rPr>
              <a:t>도메인 편향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51760"/>
            <a:ext cx="187452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222B3A"/>
                </a:solidFill>
                <a:latin typeface="맑은 고딕"/>
              </a:rPr>
              <a:t>id_02 단일 밸브만 학습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0632" y="1783080"/>
            <a:ext cx="224028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907792" y="192024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07792" y="1947672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1965960"/>
            <a:ext cx="14173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맑은 고딕"/>
              </a:rPr>
              <a:t>Generalization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2651760"/>
            <a:ext cx="187452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222B3A"/>
                </a:solidFill>
                <a:latin typeface="맑은 고딕"/>
              </a:rPr>
              <a:t>비정상도 잘 복원해버림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9784" y="1783080"/>
            <a:ext cx="224028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266944" y="192024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66944" y="1947672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61304" y="1965960"/>
            <a:ext cx="14173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맑은 고딕"/>
              </a:rPr>
              <a:t>시간축 손실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2664" y="2651760"/>
            <a:ext cx="187452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222B3A"/>
                </a:solidFill>
                <a:latin typeface="맑은 고딕"/>
              </a:rPr>
              <a:t>앞 128프레임만 사용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88936" y="1783080"/>
            <a:ext cx="224028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626096" y="192024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26096" y="1947672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0456" y="1965960"/>
            <a:ext cx="14173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맑은 고딕"/>
              </a:rPr>
              <a:t>정규화 취약성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71816" y="2651760"/>
            <a:ext cx="187452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222B3A"/>
                </a:solidFill>
                <a:latin typeface="맑은 고딕"/>
              </a:rPr>
              <a:t>ref=np.max 상대 dB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48088" y="1783080"/>
            <a:ext cx="224028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985248" y="192024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85248" y="1947672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79608" y="1965960"/>
            <a:ext cx="14173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맑은 고딕"/>
              </a:rPr>
              <a:t>단일 임계값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30968" y="2651760"/>
            <a:ext cx="187452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222B3A"/>
                </a:solidFill>
                <a:latin typeface="맑은 고딕"/>
              </a:rPr>
              <a:t>0.0016 하드코딩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4069080"/>
            <a:ext cx="224028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4233672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4251960"/>
            <a:ext cx="14173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맑은 고딕"/>
              </a:rPr>
              <a:t>MSE 손실 한계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937760"/>
            <a:ext cx="187452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222B3A"/>
                </a:solidFill>
                <a:latin typeface="맑은 고딕"/>
              </a:rPr>
              <a:t>국소·희소 결함 묻힘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70632" y="4069080"/>
            <a:ext cx="224028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907792" y="420624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907792" y="4233672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02152" y="4251960"/>
            <a:ext cx="14173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맑은 고딕"/>
              </a:rPr>
              <a:t>강건성 부재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53512" y="4937760"/>
            <a:ext cx="187452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222B3A"/>
                </a:solidFill>
                <a:latin typeface="맑은 고딕"/>
              </a:rPr>
              <a:t>노이즈 증강 없음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9784" y="4069080"/>
            <a:ext cx="224028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266944" y="420624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266944" y="4233672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⑧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61304" y="4251960"/>
            <a:ext cx="14173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맑은 고딕"/>
              </a:rPr>
              <a:t>BatchNorm 의존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12664" y="4937760"/>
            <a:ext cx="187452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222B3A"/>
                </a:solidFill>
                <a:latin typeface="맑은 고딕"/>
              </a:rPr>
              <a:t>분포 변화에 민감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88936" y="4069080"/>
            <a:ext cx="224028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626096" y="420624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626096" y="4233672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0456" y="4251960"/>
            <a:ext cx="14173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맑은 고딕"/>
              </a:rPr>
              <a:t>위치 비민감성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71816" y="4937760"/>
            <a:ext cx="187452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222B3A"/>
                </a:solidFill>
                <a:latin typeface="맑은 고딕"/>
              </a:rPr>
              <a:t>CNN translation invariance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848088" y="4069080"/>
            <a:ext cx="224028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9985248" y="4206240"/>
            <a:ext cx="502920" cy="5029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985248" y="4233672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</a:rPr>
              <a:t>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79608" y="4251960"/>
            <a:ext cx="14173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맑은 고딕"/>
              </a:rPr>
              <a:t>학습-추론 불일치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30968" y="4937760"/>
            <a:ext cx="1874520" cy="1097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>
                <a:solidFill>
                  <a:srgbClr val="222B3A"/>
                </a:solidFill>
                <a:latin typeface="맑은 고딕"/>
              </a:rPr>
              <a:t>10초 학습 vs 2초 윈도우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4-1. 취약점 상세 (1) — 데이터·전처리·임계값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87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222B3A"/>
                </a:solidFill>
                <a:latin typeface="맑은 고딕"/>
              </a:rPr>
              <a:t>학습 데이터 범위와 전처리 파이프라인에서 발생하는 5가지 약점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109728" cy="914400"/>
          </a:xfrm>
          <a:prstGeom prst="rect">
            <a:avLst/>
          </a:prstGeom>
          <a:solidFill>
            <a:srgbClr val="E87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맑은 고딕"/>
              </a:rPr>
              <a:t>① 학습 데이터 도메인 편향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1124712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맑은 고딕"/>
              </a:rPr>
              <a:t>step2_train_audio_ae.py:15  →  id_02/normal 한 폴더만 사용. 다른 ID(00, 04, 06)나 SNR(6dB, -6dB)에서는 정상음조차 복원오차가 커져 오탐(False Alarm) 폭증.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109728" cy="914400"/>
          </a:xfrm>
          <a:prstGeom prst="rect">
            <a:avLst/>
          </a:prstGeom>
          <a:solidFill>
            <a:srgbClr val="E87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맑은 고딕"/>
              </a:rPr>
              <a:t>② Generalization Gap (과도한 복원 능력)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26080"/>
            <a:ext cx="1124712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맑은 고딕"/>
              </a:rPr>
              <a:t>5층 ConvTranspose 디코더의 표현력이 강해, 학습하지 않은 비정상 패턴까지 깔끔하게 복원해버림. 정상/비정상 MSE 분포가 겹쳐 임계값 분리가 어려워짐.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66160"/>
            <a:ext cx="109728" cy="914400"/>
          </a:xfrm>
          <a:prstGeom prst="rect">
            <a:avLst/>
          </a:prstGeom>
          <a:solidFill>
            <a:srgbClr val="E87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56616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맑은 고딕"/>
              </a:rPr>
              <a:t>③ 시간축 정보 손실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31920"/>
            <a:ext cx="1124712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맑은 고딕"/>
              </a:rPr>
              <a:t>step2_train_audio_ae.py:50  →  mel_db[:, :128]. 10초 오디오 중 약 4초만 사용. 결함 신호가 후반부에만 나타나면 학습/평가 모두 놓침.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572000"/>
            <a:ext cx="109728" cy="914400"/>
          </a:xfrm>
          <a:prstGeom prst="rect">
            <a:avLst/>
          </a:prstGeom>
          <a:solidFill>
            <a:srgbClr val="E87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57200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맑은 고딕"/>
              </a:rPr>
              <a:t>④ 정규화 방식 취약성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937760"/>
            <a:ext cx="1124712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맑은 고딕"/>
              </a:rPr>
              <a:t>power_to_db(mel, ref=np.max)는 파일별 최댓값 기준 상대 dB. 큰 충격음이 들어오면 max가 올라가 전체 스펙트로그램이 시프트 → 음량 변화에 비강건.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577840"/>
            <a:ext cx="109728" cy="914400"/>
          </a:xfrm>
          <a:prstGeom prst="rect">
            <a:avLst/>
          </a:prstGeom>
          <a:solidFill>
            <a:srgbClr val="E87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557784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맑은 고딕"/>
              </a:rPr>
              <a:t>⑤ 단일 고정 임계값 (Threshold)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943600"/>
            <a:ext cx="1124712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맑은 고딕"/>
              </a:rPr>
              <a:t>step4_inference_audio_ae.py:70  →  THRESHOLD = 0.0016 하드코딩. 환경 노이즈·온도·마이크 위치 변화에 따른 분포 이동(Concept Drift)에 무력.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4-2. 취약점 상세 (2) — 손실·구조·추론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87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222B3A"/>
                </a:solidFill>
                <a:latin typeface="맑은 고딕"/>
              </a:rPr>
              <a:t>손실 함수 / 모델 구조 / 학습-추론 정합성에서 발생하는 5가지 약점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54480"/>
            <a:ext cx="109728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5448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맑은 고딕"/>
              </a:rPr>
              <a:t>⑥ MSE 손실의 한계 — 국소 결함 묻힘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1124712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맑은 고딕"/>
              </a:rPr>
              <a:t>MSE는 16,384픽셀(128×128) 평균. 결함이 특정 주파수 대역의 짧은 클릭처럼 국소·희소(sparse)하면 평균에 묻혀 정상 수준 MSE가 나옴. SSIM이나 patch-wise max error가 더 적합.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60320"/>
            <a:ext cx="109728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56032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맑은 고딕"/>
              </a:rPr>
              <a:t>⑦ 적대적/노이즈 강건성 부재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926080"/>
            <a:ext cx="1124712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맑은 고딕"/>
              </a:rPr>
              <a:t>0dB 배경 노이즈가 학습에 그대로 포함. 추론 시 다른 종류의 노이즈(공장 교체, 새 컴프레서 가동)가 들어오면 학습 분포 밖이라 정상도 비정상으로 판정. 데이터 증강(SpecAugment) 부재.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66160"/>
            <a:ext cx="109728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56616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맑은 고딕"/>
              </a:rPr>
              <a:t>⑧ BatchNorm 의존성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31920"/>
            <a:ext cx="1124712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맑은 고딕"/>
              </a:rPr>
              <a:t>인코더에 BatchNorm2d 다수 포함. eval()에서 running stats 사용하나, 이는 id_02 정상 데이터의 통계라 분포 변화에 민감. LayerNorm/InstanceNorm이 더 안정적.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572000"/>
            <a:ext cx="109728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457200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맑은 고딕"/>
              </a:rPr>
              <a:t>⑨ CNN의 위치 비민감성 (Translation Invariance)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937760"/>
            <a:ext cx="1124712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맑은 고딕"/>
              </a:rPr>
              <a:t>Conv는 위치에 둔감해서 결함 발생 위치 정보를 잠재공간 64차원에 잘 못 담음. 시간축이 약간만 어긋난 정상음도 비정상처럼 복원될 수 있음.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577840"/>
            <a:ext cx="109728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557784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맑은 고딕"/>
              </a:rPr>
              <a:t>⑩ 학습-추론 분포 불일치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943600"/>
            <a:ext cx="11247120" cy="594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>
                <a:solidFill>
                  <a:srgbClr val="222B3A"/>
                </a:solidFill>
                <a:latin typeface="맑은 고딕"/>
              </a:rPr>
              <a:t>step4 슬라이딩 윈도우는 2초/1초hop이지만, 학습은 10초 전체에서 앞 128프레임. 2초 윈도우 mel 통계는 10초와 다름 → baseline MSE가 부풀려져 임계값 산정과 어긋남.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058400" cy="5029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맑은 고딕"/>
              </a:rPr>
              <a:t>5. 개선 방향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E87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>
                <a:solidFill>
                  <a:srgbClr val="222B3A"/>
                </a:solidFill>
                <a:latin typeface="맑은 고딕"/>
              </a:rPr>
              <a:t>취약점별 대응 전략 — 데이터 / 모델 / 손실 / 운영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5486400" cy="4572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데이터·전처리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22B3A"/>
                </a:solidFill>
                <a:latin typeface="맑은 고딕"/>
              </a:rPr>
              <a:t>•  다중 ID·다중 SNR 학습으로 도메인 일반화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22B3A"/>
                </a:solidFill>
                <a:latin typeface="맑은 고딕"/>
              </a:rPr>
              <a:t>•  절대 dB 정규화로 변경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22B3A"/>
                </a:solidFill>
                <a:latin typeface="맑은 고딕"/>
              </a:rPr>
              <a:t>•  SpecAugment / 노이즈 인젝션 등 증강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22B3A"/>
                </a:solidFill>
                <a:latin typeface="맑은 고딕"/>
              </a:rPr>
              <a:t>•  슬라이딩 윈도우로 학습-추론 분포 일치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737360"/>
            <a:ext cx="5486400" cy="4572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53035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모델 아키텍처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22B3A"/>
                </a:solidFill>
                <a:latin typeface="맑은 고딕"/>
              </a:rPr>
              <a:t>•  VAE / Memory-AE / Normalizing Flow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22B3A"/>
                </a:solidFill>
                <a:latin typeface="맑은 고딕"/>
              </a:rPr>
              <a:t>•  BatchNorm → LayerNorm/InstanceNorm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22B3A"/>
                </a:solidFill>
                <a:latin typeface="맑은 고딕"/>
              </a:rPr>
              <a:t>•  Skip-connection 최소화로 복원 제한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22B3A"/>
                </a:solidFill>
                <a:latin typeface="맑은 고딕"/>
              </a:rPr>
              <a:t>•  잠재공간 차원 축소 또는 정규화 강화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1480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87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4114800"/>
            <a:ext cx="5486400" cy="457200"/>
          </a:xfrm>
          <a:prstGeom prst="rect">
            <a:avLst/>
          </a:prstGeom>
          <a:solidFill>
            <a:srgbClr val="E87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53035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손실 함수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6344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22B3A"/>
                </a:solidFill>
                <a:latin typeface="맑은 고딕"/>
              </a:rPr>
              <a:t>•  SSIM / Perceptual Loss 도입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22B3A"/>
                </a:solidFill>
                <a:latin typeface="맑은 고딕"/>
              </a:rPr>
              <a:t>•  주파수 대역 가중 MSE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22B3A"/>
                </a:solidFill>
                <a:latin typeface="맑은 고딕"/>
              </a:rPr>
              <a:t>•  Patch-wise Max Error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22B3A"/>
                </a:solidFill>
                <a:latin typeface="맑은 고딕"/>
              </a:rPr>
              <a:t>•  Mahalanobis 거리 기반 점수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114800"/>
            <a:ext cx="5486400" cy="2194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4114800"/>
            <a:ext cx="548640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4160520"/>
            <a:ext cx="53035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운영·임계값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22B3A"/>
                </a:solidFill>
                <a:latin typeface="맑은 고딕"/>
              </a:rPr>
              <a:t>•  적응형(Adaptive) 임계값 갱신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22B3A"/>
                </a:solidFill>
                <a:latin typeface="맑은 고딕"/>
              </a:rPr>
              <a:t>•  Concept Drift 모니터링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22B3A"/>
                </a:solidFill>
                <a:latin typeface="맑은 고딕"/>
              </a:rPr>
              <a:t>•  다중 임계값 (경고 / 위험)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22B3A"/>
                </a:solidFill>
                <a:latin typeface="맑은 고딕"/>
              </a:rPr>
              <a:t>•  주기적 재학습 (Online Learning)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맑은 고딕"/>
              </a:rPr>
              <a:t>결  론  (Conclusion)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828800" cy="54864"/>
          </a:xfrm>
          <a:prstGeom prst="rect">
            <a:avLst/>
          </a:prstGeom>
          <a:solidFill>
            <a:srgbClr val="E87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dirty="0">
                <a:solidFill>
                  <a:srgbClr val="FFFFFF"/>
                </a:solidFill>
                <a:latin typeface="맑은 고딕"/>
              </a:rPr>
              <a:t>•  본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프로젝트는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MIMII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데이터셋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(0dB valve id_02)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으로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CNN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오토인코더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기반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음향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이상탐지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파이프라인을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성공적으로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구축함</a:t>
            </a:r>
            <a:endParaRPr sz="1500" dirty="0">
              <a:solidFill>
                <a:srgbClr val="FFFFFF"/>
              </a:solidFill>
              <a:latin typeface="맑은 고딕"/>
            </a:endParaRPr>
          </a:p>
          <a:p>
            <a:pPr algn="l">
              <a:spcAft>
                <a:spcPts val="400"/>
              </a:spcAft>
            </a:pPr>
            <a:r>
              <a:rPr sz="1500" dirty="0">
                <a:solidFill>
                  <a:srgbClr val="FFFFFF"/>
                </a:solidFill>
                <a:latin typeface="맑은 고딕"/>
              </a:rPr>
              <a:t>• 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정상음만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학습하는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비지도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접근으로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결함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라벨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부족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문제를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우회하였고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,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슬라이딩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윈도우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기반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실시간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모니터링까지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시연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500" dirty="0">
                <a:solidFill>
                  <a:srgbClr val="FFFFFF"/>
                </a:solidFill>
                <a:latin typeface="맑은 고딕"/>
              </a:rPr>
              <a:t>• 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그러나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단일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ID·고정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임계값·MSE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손실·BatchNorm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의존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등 10가지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구조적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취약점이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존재하여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,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실제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산업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현장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배포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시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오탐과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미탐이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빈번할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수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있음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500" dirty="0">
                <a:solidFill>
                  <a:srgbClr val="FFFFFF"/>
                </a:solidFill>
                <a:latin typeface="맑은 고딕"/>
              </a:rPr>
              <a:t>• 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특히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Generalization Gap,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학습-추론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분포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불일치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, Concept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Drift는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본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모델이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즉시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직면할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핵심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리스크임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.</a:t>
            </a:r>
          </a:p>
          <a:p>
            <a:pPr algn="l">
              <a:spcAft>
                <a:spcPts val="400"/>
              </a:spcAft>
            </a:pPr>
            <a:r>
              <a:rPr sz="1500" dirty="0">
                <a:solidFill>
                  <a:srgbClr val="FFFFFF"/>
                </a:solidFill>
                <a:latin typeface="맑은 고딕"/>
              </a:rPr>
              <a:t>• 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후속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연구로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VAE / Memory-AE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도입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,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다중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도메인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학습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,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적응형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임계값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,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SSIM·Patch-wise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손실로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강건성을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확보할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필요가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FFFFF"/>
                </a:solidFill>
                <a:latin typeface="맑은 고딕"/>
              </a:rPr>
              <a:t>있음</a:t>
            </a:r>
            <a:r>
              <a:rPr sz="1500" dirty="0">
                <a:solidFill>
                  <a:srgbClr val="FFFFFF"/>
                </a:solidFill>
                <a:latin typeface="맑은 고딕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1427</Words>
  <Application>Microsoft Office PowerPoint</Application>
  <PresentationFormat>와이드스크린</PresentationFormat>
  <Paragraphs>158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gunwoo kim</cp:lastModifiedBy>
  <cp:revision>1</cp:revision>
  <dcterms:created xsi:type="dcterms:W3CDTF">2013-01-27T09:14:16Z</dcterms:created>
  <dcterms:modified xsi:type="dcterms:W3CDTF">2026-04-28T08:57:25Z</dcterms:modified>
  <cp:category/>
</cp:coreProperties>
</file>