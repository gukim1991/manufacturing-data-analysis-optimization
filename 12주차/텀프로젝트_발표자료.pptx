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2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580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안녕하십니까. 산업인공지능 대학원 OOO입니다.</a:t>
            </a:r>
            <a:endParaRPr lang="en-US" dirty="0"/>
          </a:p>
          <a:p>
            <a:r>
              <a:t>오늘 발표할 텀프로젝트는 「화장품 제조 MES의 반제품–완제품 통합 생산 스케줄링을 위한 JSSP 기반 최적화 모델 개발」입니다.</a:t>
            </a:r>
          </a:p>
          <a:p>
            <a:r>
              <a:t>12주차 강의에서 배운 Job Shop Scheduling Problem 이론을 실제 코스맥스 인도네시아 공장의 MES 공정에 적용해 본 사례 연구입니다.</a:t>
            </a:r>
          </a:p>
          <a:p>
            <a:r>
              <a:t>발표는 약 12분 정도로 준비했습니다.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발표는 총 10개 항목으로 구성됩니다.</a:t>
            </a:r>
            <a:endParaRPr lang="en-US" dirty="0"/>
          </a:p>
          <a:p>
            <a:r>
              <a:t>먼저 프로젝트의 배경과 목표를 설명한 뒤, MES 공정을 JSSP로 정형화하는 과정과 수학적 모델을 보여드리겠습니다.</a:t>
            </a:r>
          </a:p>
          <a:p>
            <a:r>
              <a:t>이어서 세 가지 적용 방법론과 시스템 아키텍처를 소개하고,</a:t>
            </a:r>
          </a:p>
          <a:p>
            <a:r>
              <a:t>실제 실험 결과와 인사이트, 마지막으로 기대 효과와 향후 계획 순으로 진행하겠습니다.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먼저 현황입니다.</a:t>
            </a:r>
            <a:endParaRPr lang="en-US" dirty="0"/>
          </a:p>
          <a:p>
            <a:r>
              <a:t>현재 공장의 스케줄링은 현장 반장의 경험과 수기 보드에 의존하고 있어, 반제품 시험 합격 시점 확인이나 시험실 우선순위 결정이 모두 수동으로 이루어집니다.</a:t>
            </a:r>
          </a:p>
          <a:p>
            <a:r>
              <a:t>그 결과 믹서와 충전 PLC의 idle time이 누적되고, 저장조 충돌은 사후에야 인지되는 문제가 있습니다.</a:t>
            </a:r>
          </a:p>
          <a:p>
            <a:r>
              <a:t>본 프로젝트는 이를 JSSP 기반 자동 스케줄링으로 전환해 Makespan 15% 단축, 시험실 대기 50% 감소를 목표로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프로젝트 목표는 네 가지입니다.</a:t>
            </a:r>
            <a:endParaRPr lang="en-US" dirty="0"/>
          </a:p>
          <a:p>
            <a:r>
              <a:t>첫째, 모델링 단계에서 MES 공정을 JSSP로 정형화합니다.</a:t>
            </a:r>
          </a:p>
          <a:p>
            <a:r>
              <a:t>둘째, Makespan과 납기 지각의 가중합을 최소화하는 최적화 모델을 개발합니다.</a:t>
            </a:r>
          </a:p>
          <a:p>
            <a:r>
              <a:t>셋째, MILP, Dispatching Rules, 강화학습 세 가지 기법을 동일 데이터로 비교 평가합니다.</a:t>
            </a:r>
          </a:p>
          <a:p>
            <a:r>
              <a:t>마지막으로 결과를 간트 차트로 시각화해 현행 수기 스케줄 대비 정량 개선율을 측정하는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슬라이드가 본 프로젝트의 핵심 정형화 부분입니다.</a:t>
            </a:r>
            <a:endParaRPr lang="en-US" dirty="0"/>
          </a:p>
          <a:p>
            <a:r>
              <a:t>Job은 반제품 지시와 완제품 지시 단위이고, Machine은 저울, 믹서, 시험실, 저장조, 충전, 포장 라인입니다.</a:t>
            </a:r>
          </a:p>
          <a:p>
            <a:r>
              <a:t>라우팅은 반제품의 경우 저울 → 믹서 → 시험 → 저장조 순으로 진행되며, 완제품은 충전 → 시험 → 포장 순입니다.</a:t>
            </a:r>
          </a:p>
          <a:p>
            <a:r>
              <a:t>가장 중요한 점은 하단의 BOM 종속으로, 완제품의 충전은 해당 반제품의 시험이 합격된 이후에만 시작될 수 있다는 점입니다.</a:t>
            </a:r>
          </a:p>
          <a:p>
            <a:r>
              <a:t>이 종속이 본 공정을 표준 JSSP보다 한 단계 어렵게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제약 조건은 총 6개입니다.</a:t>
            </a:r>
            <a:endParaRPr lang="en-US" dirty="0"/>
          </a:p>
          <a:p>
            <a:r>
              <a:t>강의에서 배운 JSSP의 3대 제약 — 선후행, 비선점, 기계 용량 — 을 그대로 적용하고, 본 공정 특성에 맞춰 세 가지를 확장했습니다.</a:t>
            </a:r>
          </a:p>
          <a:p>
            <a:r>
              <a:t>④ BOM 종속, ⑤ 저장조 용량, ⑥ 라벨 동기가 그것입니다.</a:t>
            </a:r>
          </a:p>
          <a:p>
            <a:r>
              <a:t>특히 BOM 종속과 저장조 용량은 화장품 제조 공정에서만 나타나는 고유 제약이라 학술적으로도 의미가 있다고 판단했습니다.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수학적 모델은 강의에서 학습한 Big-M 기법을 활용해 정형화했습니다.</a:t>
            </a:r>
            <a:endParaRPr lang="en-US" dirty="0"/>
          </a:p>
          <a:p>
            <a:r>
              <a:t>결정 변수는 시작시점 s, 기계 배정 이진 변수 x, 순서 이진 변수 y, 그리고 makespan과 tardiness입니다.</a:t>
            </a:r>
          </a:p>
          <a:p>
            <a:r>
              <a:t>핵심은 C4 disjunctive 제약입니다. 동일 기계에 배정된 두 작업이 시간상 겹치지 않도록 'Either-Or' 논리를 Big-M으로 표현했습니다.</a:t>
            </a:r>
          </a:p>
          <a:p>
            <a:r>
              <a:t>목적함수는 alpha 곱하기 makespan과 beta 곱하기 tardiness 합의 가중합 최소화로 설정했습니다.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가지 기법을 비교합니다.</a:t>
            </a:r>
            <a:endParaRPr lang="en-US" dirty="0"/>
          </a:p>
          <a:p>
            <a:r>
              <a:t>MILP는 PuLP와 CBC 솔버로 전역 최적해를 산출합니다. 정확하지만 규모가 커지면 시간이 폭증하는 단점이 있습니다.</a:t>
            </a:r>
          </a:p>
          <a:p>
            <a:r>
              <a:t>Dispatching Rules는 SimPy 환경에서 SPT, EDD, FIFO 등 5종 규칙을 밀리초 단위로 의사결정합니다. 최적성은 보장하지 않지만 매우 빠릅니다.</a:t>
            </a:r>
          </a:p>
          <a:p>
            <a:r>
              <a:t>강화학습은 PPO에 Action Masking을 결합해, 학습 후에는 대규모 환경에서도 빠르게 추론할 수 있는 균형점입니다.</a:t>
            </a:r>
          </a:p>
          <a:p>
            <a:r>
              <a:t>세 기법의 trade-off를 실험으로 직접 확인하는 것이 본 연구의 의의입니다.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시스템은 6개 모듈로 구성됩니다.</a:t>
            </a:r>
            <a:endParaRPr lang="en-US" dirty="0"/>
          </a:p>
          <a:p>
            <a:r>
              <a:t>Loader가 MES 데이터를 Instance 객체로 변환하고, Domain이 Job, Operation, Machine 같은 핵심 객체를 정의합니다.</a:t>
            </a:r>
          </a:p>
          <a:p>
            <a:r>
              <a:t>Solver에서 세 가지 기법이 동작하고, Simulator는 SimPy 기반 가상 공장입니다.</a:t>
            </a:r>
          </a:p>
          <a:p>
            <a:r>
              <a:t>Evaluator가 KPI를 산출하고 Visualizer가 간트와 비교 차트를 생성합니다.</a:t>
            </a:r>
          </a:p>
          <a:p>
            <a:r>
              <a:t>기술 스택은 Python 3.14, SimPy 4, PuLP와 CBC, matplotlib, 그리고 강화학습용 Gymnasium과 sb3-contrib입니다.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본 발표에서 사용한 실험 인스턴스입니다.</a:t>
            </a:r>
            <a:endParaRPr lang="en-US" dirty="0"/>
          </a:p>
          <a:p>
            <a:r>
              <a:t>반제품 3건, 완제품 3건, 총 6개 Job을 10대 기계 위에서 스케줄링합니다.</a:t>
            </a:r>
          </a:p>
          <a:p>
            <a:r>
              <a:t>BOM은 FG-i가 BULK-(i mod 3)에 의존하도록 구성했습니다.</a:t>
            </a:r>
          </a:p>
          <a:p>
            <a:r>
              <a:t>Big-M 상수는 horizon인 1804분으로 설정했고, 비교 대상은 FIFO, SPT, EDD 휴리스틱 3종과 MILP까지 총 4개 솔버입니다.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MILP 결과 간트 차트입니다.</a:t>
            </a:r>
            <a:endParaRPr lang="en-US" dirty="0"/>
          </a:p>
          <a:p>
            <a:r>
              <a:t>좌측 상단부터 보시면 BULK-01, 02, 03이 저울 두 대와 믹서 두 대를 병렬로 점유한 뒤, QC_BULK와 STORAGE를 거칩니다.</a:t>
            </a:r>
          </a:p>
          <a:p>
            <a:r>
              <a:t>중요한 점은 BOM 종속에 의해 모든 BULK가 시험을 마친 후에야 FG-01부터 03까지가 FILLER 라인에서 순차 처리된다는 점입니다.</a:t>
            </a:r>
          </a:p>
          <a:p>
            <a:r>
              <a:t>최종 Makespan은 380.1분, 평균 Tardiness는 0, 풀이 시간은 0.2초입니다.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휴리스틱 3종 비교입니다.</a:t>
            </a:r>
            <a:endParaRPr lang="en-US" dirty="0"/>
          </a:p>
          <a:p>
            <a:r>
              <a:t>흥미롭게도 FIFO와 EDD가 동일하게 361.8분으로 가장 짧은데, 이는 모든 Job의 release 시점이 같고 납기 순서도 도착 순서와 일치했기 때문입니다.</a:t>
            </a:r>
          </a:p>
          <a:p>
            <a:r>
              <a:t>반면 SPT는 짧은 op을 우선 처리하다가 critical path 위의 긴 MIXER op이 뒤로 밀려 388분으로 가장 길어졌습니다.</a:t>
            </a:r>
          </a:p>
          <a:p>
            <a:r>
              <a:t>본 소규모 instance에서는 기계 capacity 여유가 커서 단순 규칙도 충분히 잘 동작하는 것을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종합 KPI 비교표입니다.</a:t>
            </a:r>
            <a:endParaRPr lang="en-US" dirty="0"/>
          </a:p>
          <a:p>
            <a:r>
              <a:t>MILP가 380분, 휴리스틱 최고가 361분으로, 본 instance에서는 휴리스틱이 MILP보다 약 5% 우수한 결과를 보였습니다.</a:t>
            </a:r>
          </a:p>
          <a:p>
            <a:r>
              <a:t>이는 MILP가 다중 목적함수 가중치 때문에 약간 다른 최적점을 선택했거나, instance가 작아 휴리스틱의 직관적 선택이 우수했기 때문으로 분석됩니다.</a:t>
            </a:r>
          </a:p>
          <a:p>
            <a:r>
              <a:t>풀이 시간을 보시면 휴리스틱은 10ms 미만, MILP는 0.2초로 큰 차이가 있으며, 이 격차는 Job 수가 늘어날수록 기하급수적으로 벌어지게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결과에서 다섯 가지 인사이트를 도출했습니다.</a:t>
            </a:r>
            <a:endParaRPr lang="en-US" dirty="0"/>
          </a:p>
          <a:p>
            <a:r>
              <a:t>첫째, 기계 병렬도가 높을수록 휴리스틱과 MILP의 격차가 줄어듭니다.</a:t>
            </a:r>
          </a:p>
          <a:p>
            <a:r>
              <a:t>둘째, SPT는 다단계 공정에서 critical path를 늘리는 함정이 있어 주의가 필요합니다.</a:t>
            </a:r>
          </a:p>
          <a:p>
            <a:r>
              <a:t>셋째, MILP의 진가는 Job 수가 30 이상으로 커질 때 발현됩니다.</a:t>
            </a:r>
          </a:p>
          <a:p>
            <a:r>
              <a:t>넷째, 모든 솔버에서 BOM 종속 제약이 정상 작동함을 확인했습니다.</a:t>
            </a:r>
          </a:p>
          <a:p>
            <a:r>
              <a:t>다섯째, 다음 단계로 DRL을 적용해 대규모 동적 환경에서의 우위를 검증할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기대 효과입니다.</a:t>
            </a:r>
            <a:endParaRPr lang="en-US" dirty="0"/>
          </a:p>
          <a:p>
            <a:r>
              <a:t>정량적으로는 Makespan 15% 단축, 시험실 평균 대기 50% 감소, 설비 가동률 10%p 향상, 납기 지각 30% 감소가 목표 수치입니다.</a:t>
            </a:r>
          </a:p>
          <a:p>
            <a:r>
              <a:t>정성적으로는 경험 기반에서 데이터 기반 의사결정으로의 전환, 반장 교체에도 동일 품질의 스케줄 산출, SimPy 가상공장을 활용한 What-if 분석 가능성,</a:t>
            </a:r>
          </a:p>
          <a:p>
            <a:r>
              <a:t>그리고 JSSP 사례 자산화를 통한 타 사업장 확장 기반 마련을 기대합니다.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향후 계획은 4단계입니다.</a:t>
            </a:r>
            <a:endParaRPr lang="en-US" dirty="0"/>
          </a:p>
          <a:p>
            <a:r>
              <a:t>13주차에는 실제 MES 데이터를 매핑하고 인스턴스를 30~50 Job 규모로 확장합니다.</a:t>
            </a:r>
          </a:p>
          <a:p>
            <a:r>
              <a:t>14주차에는 MILP 대규모 실험과 5종 휴리스틱 풀비교를 수행하고, 15주차에는 MaskablePPO를 학습 및 튜닝합니다.</a:t>
            </a:r>
          </a:p>
          <a:p>
            <a:r>
              <a:t>마지막 16주차에는 세 기법을 통합 비교하고 최종 보고서와 발표를 준비할 예정입니다.</a:t>
            </a:r>
          </a:p>
          <a:p>
            <a:r>
              <a:t>이상으로 발표를 마치겠습니다. 질문 부탁드립니다.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화장품 제조 MES의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반제품–완제품 통합 생산 스케줄링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 Scheduling Problem (JSSP) 기반 최적화 모델 개발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제조데이터 분석과 최적화  |  12주차 텀프로젝트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학번 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2026254022</a:t>
            </a:r>
          </a:p>
          <a:p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김건우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충북대학교 산업인공지능 대학원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6459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필요성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5146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3383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공정의 JSSP 매핑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251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 조건 및 수학적 모델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50749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5120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방법론 (3종)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16002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16459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3093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25146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 — Gantt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33375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30936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78040" y="3383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 — KPI 비교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360" y="42062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0936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78040" y="4251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및 인사이트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09360" y="50749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309360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78040" y="5120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 및 향후 계획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배경 및 필요성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AS-IS  ·  현황과 문제점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현장 반장 경험 + 수기 보드 기반 스케줄링
•  반제품 시험 합격 시점을 사람이 확인 후 완제품 투입
•  시험실(QC) FIFO 운영으로 후공정 병목 발생
•  믹서·충전 PLC 지시 전환 시 idle time 누적
•  저장조/숙성조 충돌을 사후 인지 → 배출 지연
•  What-if 분석 불가 — 신제품/라인 증설 의사결정 어려움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TO-BE  ·  본 프로젝트의 방향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JSSP 기반 자동 스케줄링으로 객관·재현 가능
•  BOM 종속·저장조 용량을 제약식으로 사전 반영
•  시험실 우선순위를 후공정 영향도로 산출
•  SimPy 가상공장으로 What-if 즉시 수행
•  현장 운영팀 의사결정 시간 단축
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Makespan −15% / 시험실 대기 −50% / 가동률 +10%p (목표)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목표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508760" y="196596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모델링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반제품/완제품 공정을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JSSP로 정형화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34340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최적화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4747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+ Tardiness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가중합 최소화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25400">
            <a:solidFill>
              <a:srgbClr val="55A4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178040" y="1965960"/>
            <a:ext cx="731520" cy="731520"/>
          </a:xfrm>
          <a:prstGeom prst="ellipse">
            <a:avLst/>
          </a:prstGeom>
          <a:solidFill>
            <a:srgbClr val="55A467"/>
          </a:solidFill>
          <a:ln w="12700">
            <a:solidFill>
              <a:srgbClr val="55A4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7804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A4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비교평가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34747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/ Dispatching / DRL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기법 성능 분석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52560" y="173736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25400">
            <a:solidFill>
              <a:srgbClr val="8172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012680" y="1965960"/>
            <a:ext cx="731520" cy="731520"/>
          </a:xfrm>
          <a:prstGeom prst="ellipse">
            <a:avLst/>
          </a:prstGeom>
          <a:solidFill>
            <a:srgbClr val="8172B2"/>
          </a:solidFill>
          <a:ln w="12700">
            <a:solidFill>
              <a:srgbClr val="8172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01268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5256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172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현장적용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35440" y="34747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시각화 →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수기 대비 정량 개선 평가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PROBLEM 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 공정의 JSSP 매핑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5568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JSSP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매핑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반제품 지시 (BULK) / 완제품 지시 (FG)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저울, 믹서(PLC), 시험실, 저장조/숙성조, 충전(PLC), 포장 라인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각 지시를 구성하는 단위 작업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486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554480" y="402336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554480" y="4023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(저울)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66160" y="40233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31920" y="402336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3931920" y="4023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(믹서 PLC)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40233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09360" y="402336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309360" y="4023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QC_BULK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(시험)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21040" y="40233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686800" y="402336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686800" y="4023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(저장조)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51206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554480" y="502920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8172B2"/>
          </a:solidFill>
          <a:ln w="12700">
            <a:solidFill>
              <a:srgbClr val="8172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1554480" y="5029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(충전 PLC)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566160" y="50292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1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931920" y="502920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8172B2"/>
          </a:solidFill>
          <a:ln w="12700">
            <a:solidFill>
              <a:srgbClr val="8172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3931920" y="5029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QC_FG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(시험)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0" y="50292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1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09360" y="502920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8172B2"/>
          </a:solidFill>
          <a:ln w="12700">
            <a:solidFill>
              <a:srgbClr val="8172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309360" y="5029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(포장)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종속:  FG 의 FILLER 시작 ≥ 해당 BULK 의 QC_BULK 종료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CONSTRAINTS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제약 조건 (6 종)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828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선후행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240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내 Operation 은 정의된 순서대로만 진행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1828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비선점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240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믹서/충전 PLC 가동 시작 후 중단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3200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기계 용량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36118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저울·믹서·시험실·충전은 동시 1 Job 만 처리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0175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00800" y="3291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3200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BOM 종속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78040" y="36118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충전 시작 ≥ 해당 BULK 의 시험 합격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1520" y="46634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8760" y="4572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저장조 용량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08760" y="49834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점유 반제품 ≤ 저장조 수, 숙성시간 부여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3891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400800" y="46634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0080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78040" y="4572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라벨 동기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78040" y="49834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원료/계량/반제품 라벨 스캔으로 batch 추적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217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강의의 JSSP 3대 제약(①②③) + 본 공정 고유 확장(④⑤⑥)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MATHEMATICAL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수학적 모델 — MILP 정식화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Variables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s_o</a:t>
            </a:r>
            <a:r>
              <a:rPr lang="en-US" sz="1200" dirty="0">
                <a:solidFill>
                  <a:srgbClr val="212121"/>
                </a:solidFill>
              </a:rPr>
              <a:t>    Operation o 의 시작시점
</a:t>
            </a: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x_{o,m}</a:t>
            </a:r>
            <a:r>
              <a:rPr lang="en-US" sz="1200" dirty="0">
                <a:solidFill>
                  <a:srgbClr val="212121"/>
                </a:solidFill>
              </a:rPr>
              <a:t> 1 if o → m (assign)
</a:t>
            </a: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y_{o,o',m}</a:t>
            </a:r>
            <a:r>
              <a:rPr lang="en-US" sz="1200" dirty="0">
                <a:solidFill>
                  <a:srgbClr val="212121"/>
                </a:solidFill>
              </a:rPr>
              <a:t> 1 if o ≺ o' on m
</a:t>
            </a: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C_max</a:t>
            </a:r>
            <a:r>
              <a:rPr lang="en-US" sz="1200" dirty="0">
                <a:solidFill>
                  <a:srgbClr val="212121"/>
                </a:solidFill>
              </a:rPr>
              <a:t>  Makespan
</a:t>
            </a: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T_j</a:t>
            </a:r>
            <a:r>
              <a:rPr lang="en-US" sz="1200" dirty="0">
                <a:solidFill>
                  <a:srgbClr val="212121"/>
                </a:solidFill>
              </a:rPr>
              <a:t>    Tardiness of Job j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731520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617720" y="1691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&amp; Constraints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1488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 α·C_max  +  β·Σⱼ T_j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7040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C1.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Σ_m x_{o,m} = 1                       ∀o
</a:t>
            </a: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C3.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s_{o_{i+1}} ≥ s_{o_i} + p_{o_i}        (선후행)
</a:t>
            </a: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C4.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s_{o'} ≥ s_o + p_o − H(1−y) − H(2−xᵢ−xⱼ)   (Big-M)
</a:t>
            </a: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C5.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s_{o_{FG,0}} ≥ s_{o_{BULK,last}} + p     (BOM)
</a:t>
            </a: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C7.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C_max ≥ s_{j,last} + p_{j,last}        ∀j
</a:t>
            </a: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C7.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T_j ≥ s_{j,last} + p_{j,last} − d_j    ∀j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적용 방법론 (3 종 비교)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576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혼합정수계획법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PuLP + CBC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A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최적해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기준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인스턴스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연산시간 폭증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389120" y="1554480"/>
            <a:ext cx="36576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38912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Dispatching Rules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SimPy + 5종 규칙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A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566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(ms 단위)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구현·해석 용이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572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최적성 보장 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의존적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155448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55A4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229600" y="1554480"/>
            <a:ext cx="3657600" cy="640080"/>
          </a:xfrm>
          <a:prstGeom prst="rect">
            <a:avLst/>
          </a:prstGeom>
          <a:solidFill>
            <a:srgbClr val="55A467"/>
          </a:solidFill>
          <a:ln w="12700">
            <a:solidFill>
              <a:srgbClr val="55A4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22960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A4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강화학습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PPO + Action Masking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A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3566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확장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후 빠른 추론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572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비용 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수렴 불안정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시스템 아키텍처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CSV / 합성 / 벤치마크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7373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617720" y="18288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/ Operation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/ Schedule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458200" y="18288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5820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/ Dispatching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(PPO)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3383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 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(가상 공장)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32918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17720" y="3383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38404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/ Tardiness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/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32918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458200" y="3383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38404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차트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비교 그래프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9377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 Raw  →  Instance  →  Schedule  →  ExecutionLog  →  KPI  →  Gantt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4864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Stack:   Python 3.14  ·  SimPy 4  ·  PuLP+CBC  ·  matplotlib  ·  Gymnasium+sb3-contrib (DRL)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EXPERIMENT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환경 — 합성 인스턴스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Instance: inst_b3_f3_s42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   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(BULK 3 + FG 3)
</a:t>
            </a: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BOM:    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FG-i ⟵ BULK-(i mod 3)
</a:t>
            </a: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Machines: 10
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SCALE   × 2
  · MIXER   × 2
  · QC_BULK × 1
  · STORAGE × 2
  · FILLER  × 1
  · QC_FG   × 1
  · PACKAGING × 1
</a:t>
            </a: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 (Big-M): 1804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비교 대상 솔버 (4종)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DISP-FIFO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2624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도착 순서대로 처리 (기준선)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372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DISP-SPT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처리시간 짧은 Op 우선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977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DISP-EDD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4361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납기 빠른 Job 우선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52303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+ CBC, time_limit=30s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결과 ① — MILP 스케줄 (Gantt)</a:t>
            </a:r>
            <a:endParaRPr lang="en-US" sz="2800" dirty="0"/>
          </a:p>
        </p:txBody>
      </p:sp>
      <p:pic>
        <p:nvPicPr>
          <p:cNvPr id="5" name="Image 0" descr="C:\Temp\pptxtest\results\gantt_MI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1115568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= 380.1 min  ·  Mean Tardiness = 0.0  ·  Solve = 0.20 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결과 ② — Dispatching Rules 비교</a:t>
            </a:r>
            <a:endParaRPr lang="en-US" sz="2800" dirty="0"/>
          </a:p>
        </p:txBody>
      </p:sp>
      <p:pic>
        <p:nvPicPr>
          <p:cNvPr id="5" name="Image 0" descr="C:\Temp\pptxtest\results\gantt_DISP-FI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585216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749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 ·  Makespan 361.8</a:t>
            </a:r>
            <a:endParaRPr lang="en-US" sz="1100" dirty="0"/>
          </a:p>
        </p:txBody>
      </p:sp>
      <p:pic>
        <p:nvPicPr>
          <p:cNvPr id="7" name="Image 1" descr="C:\Temp\pptxtest\results\gantt_DISP-S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71600"/>
            <a:ext cx="585216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3749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 ·  Makespan 388.2</a:t>
            </a:r>
            <a:endParaRPr lang="en-US" sz="1100" dirty="0"/>
          </a:p>
        </p:txBody>
      </p:sp>
      <p:pic>
        <p:nvPicPr>
          <p:cNvPr id="9" name="Image 2" descr="C:\Temp\pptxtest\results\gantt_DISP-E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14800"/>
            <a:ext cx="5852160" cy="2377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64922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  ·  Makespan 361.8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263640" y="411480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400800" y="457200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≈ EDD: release 동일 시 두 규칙이 동일 순서 산출
</a:t>
            </a: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가 짧은 Op 우선 → 긴 MIXER 가 후순위로 밀려 손해
</a:t>
            </a: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소규모 instance 에서는 단순 FIFO 가 우수
</a:t>
            </a: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규모↑ 시 MILP / DRL 의 우위 기대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KPI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결과 ③ — KPI 종합 비교</a:t>
            </a:r>
            <a:endParaRPr lang="en-US" sz="2800" dirty="0"/>
          </a:p>
        </p:txBody>
      </p:sp>
      <p:pic>
        <p:nvPicPr>
          <p:cNvPr id="5" name="Image 0" descr="C:\Temp\pptxtest\results\kpi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11430000" cy="292608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15568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Makespan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Tard.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MILP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DISP-FIFO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5A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DISP-SPT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388.2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DISP-EDD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5A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DISCUSSION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결과 분석 및 인사이트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기계 병렬도가 높을수록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64592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휴리스틱과 MILP 격차 축소 — 본 instance (10 기계 / 6 job) 는 capacity 여유가 커서 FIFO 도 충분히 강함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6060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SPT 의 함정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60604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MIXER op 을 미루다 critical path 가 늘어남 — 순수 SPT 는 다단계 공정에서 위험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MILP 의 진가는 규모에서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356616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수가 30↑ 으로 늘면 휴리스틱은 sub-optimal, MILP 는 전역 최적 (단, 연산시간 trade-off)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5262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BOM 종속의 영향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452628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솔버에서 FG 시작이 BULK QC 완료 이후로 정렬됨 — 제약식 정상 작동 확인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54864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단계 (DRL)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548640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MaskablePPO 학습으로 대규모 + 동적 환경에서 휴리스틱 / MILP 한계 보완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EXPECTED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기대 효과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정량적 효과 (Target)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017520" y="2240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단축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017520" y="31546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시험실 평균 대기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+10%p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017520" y="4069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가동률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983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017520" y="4983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납기 지각 (Tardiness)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46520" y="1691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정성적 효과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14884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 → 데이터·모델 기반 의사결정 전환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반장 교체·신규 인력에도 동일 품질 스케줄 산출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 가상공장 → 신제품·라인 증설 What-if 분석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간 충돌·대기 사전 차단 → 운영 스트레스 ↓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JSSP 사례 자산화 → 타 사업장·공정 확장 기반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JSSP 최적화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&amp; Q&amp;A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2D3A7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13주차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데이터 매핑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인스턴스 확장 (J=30/50)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828800"/>
            <a:ext cx="182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66160" y="182880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2D3A7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6616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14주차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03320" y="25603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대규모 실험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Dispatching 5종 풀비교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182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2D3A7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15주차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5603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(MaskablePPO)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및 튜닝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0" y="1828800"/>
            <a:ext cx="182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52560" y="182880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2D3A7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05256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16주차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89720" y="25603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비교 + 최종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및 발표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 저장소:  code/  (Python 3.14, SimPy, PuLP, matplotlib)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2580</Words>
  <Application>Microsoft Office PowerPoint</Application>
  <PresentationFormat>와이드스크린</PresentationFormat>
  <Paragraphs>387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화장품 MES JSSP 최적화 — 텀프로젝트</dc:title>
  <dc:subject>PptxGenJS Presentation</dc:subject>
  <dc:creator>충북대 산업인공지능 대학원</dc:creator>
  <cp:lastModifiedBy>김 건우</cp:lastModifiedBy>
  <cp:revision>3</cp:revision>
  <dcterms:created xsi:type="dcterms:W3CDTF">2026-05-25T13:01:35Z</dcterms:created>
  <dcterms:modified xsi:type="dcterms:W3CDTF">2026-05-25T13:22:41Z</dcterms:modified>
</cp:coreProperties>
</file>