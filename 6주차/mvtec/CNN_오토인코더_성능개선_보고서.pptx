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2.xml" ContentType="application/vnd.openxmlformats-officedocument.drawingml.chart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22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nwoo kim" userId="f81397dfb3116dc6" providerId="LiveId" clId="{46C8264E-75AD-42DD-AD5E-6711A97F4839}"/>
    <pc:docChg chg="custSel modSld">
      <pc:chgData name="gunwoo kim" userId="f81397dfb3116dc6" providerId="LiveId" clId="{46C8264E-75AD-42DD-AD5E-6711A97F4839}" dt="2026-04-20T13:28:21.902" v="1" actId="478"/>
      <pc:docMkLst>
        <pc:docMk/>
      </pc:docMkLst>
      <pc:sldChg chg="delSp mod">
        <pc:chgData name="gunwoo kim" userId="f81397dfb3116dc6" providerId="LiveId" clId="{46C8264E-75AD-42DD-AD5E-6711A97F4839}" dt="2026-04-20T13:28:21.902" v="1" actId="478"/>
        <pc:sldMkLst>
          <pc:docMk/>
          <pc:sldMk cId="0" sldId="268"/>
        </pc:sldMkLst>
        <pc:spChg chg="del">
          <ac:chgData name="gunwoo kim" userId="f81397dfb3116dc6" providerId="LiveId" clId="{46C8264E-75AD-42DD-AD5E-6711A97F4839}" dt="2026-04-20T13:28:20.839" v="0" actId="478"/>
          <ac:spMkLst>
            <pc:docMk/>
            <pc:sldMk cId="0" sldId="268"/>
            <ac:spMk id="2" creationId="{00000000-0000-0000-0000-000000000000}"/>
          </ac:spMkLst>
        </pc:spChg>
        <pc:spChg chg="del">
          <ac:chgData name="gunwoo kim" userId="f81397dfb3116dc6" providerId="LiveId" clId="{46C8264E-75AD-42DD-AD5E-6711A97F4839}" dt="2026-04-20T13:28:21.902" v="1" actId="478"/>
          <ac:spMkLst>
            <pc:docMk/>
            <pc:sldMk cId="0" sldId="268"/>
            <ac:spMk id="3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A2540"/>
                </a:solidFill>
                <a:latin typeface="Cambria"/>
              </a:defRPr>
            </a:pPr>
            <a:r>
              <a:rPr lang="en-US" sz="1200" b="0" i="0" u="none" strike="noStrike">
                <a:solidFill>
                  <a:srgbClr val="0A2540"/>
                </a:solidFill>
                <a:latin typeface="Cambria"/>
              </a:rPr>
              <a:t>Anomaly Score </a:t>
            </a:r>
            <a:r>
              <a:rPr lang="ko-KR" altLang="en-US" sz="1200" b="0" i="0" u="none" strike="noStrike">
                <a:solidFill>
                  <a:srgbClr val="0A2540"/>
                </a:solidFill>
                <a:latin typeface="Cambria"/>
              </a:rPr>
              <a:t>분포 </a:t>
            </a:r>
            <a:r>
              <a:rPr lang="en-US" altLang="ko-KR" sz="1200" b="0" i="0" u="none" strike="noStrike">
                <a:solidFill>
                  <a:srgbClr val="0A2540"/>
                </a:solidFill>
                <a:latin typeface="Cambria"/>
              </a:rPr>
              <a:t>— </a:t>
            </a:r>
            <a:r>
              <a:rPr lang="ko-KR" altLang="en-US" sz="1200" b="0" i="0" u="none" strike="noStrike">
                <a:solidFill>
                  <a:srgbClr val="0A2540"/>
                </a:solidFill>
                <a:latin typeface="Cambria"/>
              </a:rPr>
              <a:t>겹침</a:t>
            </a:r>
            <a:r>
              <a:rPr lang="en-US" altLang="ko-KR" sz="1200" b="0" i="0" u="none" strike="noStrike">
                <a:solidFill>
                  <a:srgbClr val="0A2540"/>
                </a:solidFill>
                <a:latin typeface="Cambria"/>
              </a:rPr>
              <a:t>(</a:t>
            </a:r>
            <a:r>
              <a:rPr lang="en-US" sz="1200" b="0" i="0" u="none" strike="noStrike">
                <a:solidFill>
                  <a:srgbClr val="0A2540"/>
                </a:solidFill>
                <a:latin typeface="Cambria"/>
              </a:rPr>
              <a:t>Overlap) </a:t>
            </a:r>
            <a:r>
              <a:rPr lang="ko-KR" altLang="en-US" sz="1200" b="0" i="0" u="none" strike="noStrike">
                <a:solidFill>
                  <a:srgbClr val="0A2540"/>
                </a:solidFill>
                <a:latin typeface="Cambria"/>
              </a:rPr>
              <a:t>발생</a:t>
            </a:r>
          </a:p>
        </c:rich>
      </c:tx>
      <c:overlay val="0"/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정상(Normal)</c:v>
                </c:pt>
              </c:strCache>
            </c:strRef>
          </c:tx>
          <c:spPr>
            <a:solidFill>
              <a:srgbClr val="1C7293"/>
            </a:solidFill>
            <a:effectLst/>
          </c:spPr>
          <c:cat>
            <c:strRef>
              <c:f>Sheet1!$A$2:$A$10</c:f>
              <c:strCache>
                <c:ptCount val="9"/>
                <c:pt idx="0">
                  <c:v>0.1</c:v>
                </c:pt>
                <c:pt idx="1">
                  <c:v>0.2</c:v>
                </c:pt>
                <c:pt idx="2">
                  <c:v>0.3</c:v>
                </c:pt>
                <c:pt idx="3">
                  <c:v>0.4</c:v>
                </c:pt>
                <c:pt idx="4">
                  <c:v>0.5</c:v>
                </c:pt>
                <c:pt idx="5">
                  <c:v>0.6</c:v>
                </c:pt>
                <c:pt idx="6">
                  <c:v>0.7</c:v>
                </c:pt>
                <c:pt idx="7">
                  <c:v>0.8</c:v>
                </c:pt>
                <c:pt idx="8">
                  <c:v>0.9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</c:v>
                </c:pt>
                <c:pt idx="1">
                  <c:v>18</c:v>
                </c:pt>
                <c:pt idx="2">
                  <c:v>32</c:v>
                </c:pt>
                <c:pt idx="3">
                  <c:v>45</c:v>
                </c:pt>
                <c:pt idx="4">
                  <c:v>38</c:v>
                </c:pt>
                <c:pt idx="5">
                  <c:v>25</c:v>
                </c:pt>
                <c:pt idx="6">
                  <c:v>12</c:v>
                </c:pt>
                <c:pt idx="7">
                  <c:v>5</c:v>
                </c:pt>
                <c:pt idx="8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3F5-49D8-9D33-A7DCC6C89BA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불량(Defect)</c:v>
                </c:pt>
              </c:strCache>
            </c:strRef>
          </c:tx>
          <c:spPr>
            <a:solidFill>
              <a:srgbClr val="E76F51"/>
            </a:solidFill>
            <a:effectLst/>
          </c:spPr>
          <c:cat>
            <c:strRef>
              <c:f>Sheet1!$A$2:$A$10</c:f>
              <c:strCache>
                <c:ptCount val="9"/>
                <c:pt idx="0">
                  <c:v>0.1</c:v>
                </c:pt>
                <c:pt idx="1">
                  <c:v>0.2</c:v>
                </c:pt>
                <c:pt idx="2">
                  <c:v>0.3</c:v>
                </c:pt>
                <c:pt idx="3">
                  <c:v>0.4</c:v>
                </c:pt>
                <c:pt idx="4">
                  <c:v>0.5</c:v>
                </c:pt>
                <c:pt idx="5">
                  <c:v>0.6</c:v>
                </c:pt>
                <c:pt idx="6">
                  <c:v>0.7</c:v>
                </c:pt>
                <c:pt idx="7">
                  <c:v>0.8</c:v>
                </c:pt>
                <c:pt idx="8">
                  <c:v>0.9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</c:v>
                </c:pt>
                <c:pt idx="1">
                  <c:v>3</c:v>
                </c:pt>
                <c:pt idx="2">
                  <c:v>8</c:v>
                </c:pt>
                <c:pt idx="3">
                  <c:v>15</c:v>
                </c:pt>
                <c:pt idx="4">
                  <c:v>28</c:v>
                </c:pt>
                <c:pt idx="5">
                  <c:v>38</c:v>
                </c:pt>
                <c:pt idx="6">
                  <c:v>32</c:v>
                </c:pt>
                <c:pt idx="7">
                  <c:v>18</c:v>
                </c:pt>
                <c:pt idx="8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3F5-49D8-9D33-A7DCC6C89B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area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F6B7A"/>
                    </a:solidFill>
                    <a:latin typeface="Arial"/>
                  </a:defRPr>
                </a:pPr>
                <a:r>
                  <a:rPr lang="en-US" sz="1000" b="0" i="0" u="none" strike="noStrike">
                    <a:solidFill>
                      <a:srgbClr val="5F6B7A"/>
                    </a:solidFill>
                    <a:latin typeface="Arial"/>
                  </a:rPr>
                  <a:t>Reconstruction Error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7DEE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F6B7A"/>
                    </a:solidFill>
                    <a:latin typeface="Arial"/>
                  </a:defRPr>
                </a:pPr>
                <a:r>
                  <a:rPr lang="ko-KR" altLang="en-US" sz="1000" b="0" i="0" u="none" strike="noStrike">
                    <a:solidFill>
                      <a:srgbClr val="5F6B7A"/>
                    </a:solidFill>
                    <a:latin typeface="Arial"/>
                  </a:rPr>
                  <a:t>빈도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5F6B7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AUROC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A2540"/>
                    </a:solidFill>
                    <a:latin typeface="Calibri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Baseline (L2)</c:v>
                </c:pt>
                <c:pt idx="1">
                  <c:v>Latent 결합</c:v>
                </c:pt>
                <c:pt idx="2">
                  <c:v>SSIM</c:v>
                </c:pt>
                <c:pt idx="3">
                  <c:v>Pixel z-score</c:v>
                </c:pt>
                <c:pt idx="4">
                  <c:v>+ 튜닝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0.72</c:v>
                </c:pt>
                <c:pt idx="1">
                  <c:v>0.62</c:v>
                </c:pt>
                <c:pt idx="2">
                  <c:v>0.44</c:v>
                </c:pt>
                <c:pt idx="3">
                  <c:v>0.88</c:v>
                </c:pt>
                <c:pt idx="4">
                  <c:v>0.93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9E8-472A-86C0-8D8F174BD92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F4A261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A2540"/>
                    </a:solidFill>
                    <a:latin typeface="Calibri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Baseline (L2)</c:v>
                </c:pt>
                <c:pt idx="1">
                  <c:v>Latent 결합</c:v>
                </c:pt>
                <c:pt idx="2">
                  <c:v>SSIM</c:v>
                </c:pt>
                <c:pt idx="3">
                  <c:v>Pixel z-score</c:v>
                </c:pt>
                <c:pt idx="4">
                  <c:v>+ 튜닝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0.87</c:v>
                </c:pt>
                <c:pt idx="1">
                  <c:v>0.86</c:v>
                </c:pt>
                <c:pt idx="2">
                  <c:v>0.86</c:v>
                </c:pt>
                <c:pt idx="3">
                  <c:v>0.89</c:v>
                </c:pt>
                <c:pt idx="4">
                  <c:v>0.92059999999999997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9E8-472A-86C0-8D8F174BD92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A254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D7DE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5F6B7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85238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31520" y="1463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REPORT  |  MVTec AD — BOTTLE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실습 기반 CNN 오토인코더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성능 개선 분석 보고서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840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취약점 분석과 픽셀별 z-score 정규화를 통한 F1-Score 개선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4754880"/>
            <a:ext cx="73152" cy="109728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960120" y="4800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7B8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F1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50749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B8C5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0.8690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017520" y="5074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74904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F1 (Test)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749040" y="50749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0.9206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6858000" y="5029200"/>
            <a:ext cx="2926080" cy="73152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858000" y="50292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목표 F1 ≥ 0.90 달성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6126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7B8DA8"/>
                </a:solidFill>
                <a:latin typeface="Calibri" pitchFamily="34" charset="0"/>
                <a:cs typeface="Calibri" pitchFamily="34" charset="-120"/>
              </a:rPr>
              <a:t>제조 데이터 분석과 최적화</a:t>
            </a:r>
            <a:endParaRPr lang="en-US" altLang="ko-KR" sz="1100" dirty="0">
              <a:solidFill>
                <a:srgbClr val="7B8DA8"/>
              </a:solidFill>
              <a:latin typeface="Calibri" pitchFamily="34" charset="0"/>
              <a:cs typeface="Calibri" pitchFamily="34" charset="-120"/>
            </a:endParaRPr>
          </a:p>
          <a:p>
            <a:r>
              <a:rPr lang="ko-KR" altLang="en-US" sz="1100" dirty="0">
                <a:solidFill>
                  <a:srgbClr val="7B8DA8"/>
                </a:solidFill>
                <a:latin typeface="Calibri" pitchFamily="34" charset="0"/>
                <a:cs typeface="Calibri" pitchFamily="34" charset="-120"/>
              </a:rPr>
              <a:t>학번 </a:t>
            </a:r>
            <a:r>
              <a:rPr lang="en-US" altLang="ko-KR" sz="1100" dirty="0">
                <a:solidFill>
                  <a:srgbClr val="7B8DA8"/>
                </a:solidFill>
                <a:latin typeface="Calibri" pitchFamily="34" charset="0"/>
                <a:cs typeface="Calibri" pitchFamily="34" charset="-120"/>
              </a:rPr>
              <a:t>: 2026254022</a:t>
            </a:r>
          </a:p>
          <a:p>
            <a:r>
              <a:rPr lang="ko-KR" altLang="en-US" sz="1100" dirty="0">
                <a:solidFill>
                  <a:srgbClr val="7B8DA8"/>
                </a:solidFill>
                <a:latin typeface="Calibri" pitchFamily="34" charset="0"/>
                <a:cs typeface="Calibri" pitchFamily="34" charset="-120"/>
              </a:rPr>
              <a:t>이름 </a:t>
            </a:r>
            <a:r>
              <a:rPr lang="en-US" altLang="ko-KR" sz="1100" dirty="0">
                <a:solidFill>
                  <a:srgbClr val="7B8DA8"/>
                </a:solidFill>
                <a:latin typeface="Calibri" pitchFamily="34" charset="0"/>
                <a:cs typeface="Calibri" pitchFamily="34" charset="-120"/>
              </a:rPr>
              <a:t>: </a:t>
            </a:r>
            <a:r>
              <a:rPr lang="ko-KR" altLang="en-US" sz="1100" dirty="0">
                <a:solidFill>
                  <a:srgbClr val="7B8DA8"/>
                </a:solidFill>
                <a:latin typeface="Calibri" pitchFamily="34" charset="0"/>
                <a:cs typeface="Calibri" pitchFamily="34" charset="-120"/>
              </a:rPr>
              <a:t>김건우</a:t>
            </a:r>
            <a:endParaRPr lang="en-US" altLang="ko-KR" sz="1100" dirty="0">
              <a:solidFill>
                <a:srgbClr val="7B8DA8"/>
              </a:solidFill>
              <a:latin typeface="Calibri" pitchFamily="34" charset="0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8580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과제 개요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80467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Overview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1463040" cy="1234440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1463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과제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331720" y="1508760"/>
            <a:ext cx="9326880" cy="12344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560320" y="164592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취약점 분석 + 성능 개선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560320" y="2103120"/>
            <a:ext cx="8869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실습을 통해 개발된 CNN 오토인코더 모델의 취약점을 분석하고, 분석 결과를 바탕으로 성능을 개선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1520" y="3017520"/>
            <a:ext cx="1463040" cy="1234440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31520" y="3017520"/>
            <a:ext cx="1463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목표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331720" y="3017520"/>
            <a:ext cx="9326880" cy="12344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560320" y="315468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F1-Score ≥ 0.90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560320" y="3611880"/>
            <a:ext cx="8869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 데이터셋 Test 기준 F1-Score 0.90 이상 달성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31520" y="4526280"/>
            <a:ext cx="1463040" cy="1234440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31520" y="4526280"/>
            <a:ext cx="1463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전략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2331720" y="4526280"/>
            <a:ext cx="9326880" cy="12344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2560320" y="466344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구조적 원인 분석 기반 개선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2560320" y="5120640"/>
            <a:ext cx="8869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 성능 튜닝이 아닌, 모델의 구조적 한계 원인을 분석한 뒤 개선 방법을 도입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Autoencoder 성능 개선 보고서  |  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8580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실험 환경 및 데이터셋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80467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데이터셋 구성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5440680" cy="9144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31520" y="1920240"/>
            <a:ext cx="73152" cy="9144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960120" y="20116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22860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MVTec AD — Bottle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31520" y="3017520"/>
            <a:ext cx="1188720" cy="5486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31520" y="30175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학습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057400" y="30175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정상(Normal) 이미지만 사용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3703320"/>
            <a:ext cx="1188720" cy="54864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31520" y="37033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테스트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057400" y="37033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정상 + 불량(Defect) 혼합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4846320"/>
            <a:ext cx="5440680" cy="1371600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731520" y="4846320"/>
            <a:ext cx="73152" cy="137160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960120" y="49377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보고 기준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60120" y="525780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본 보고서는 Test 데이터셋 기준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결과만을 비교 분석함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92240" y="1508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평가 지표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92240" y="1920240"/>
            <a:ext cx="5166360" cy="1965960"/>
          </a:xfrm>
          <a:prstGeom prst="rect">
            <a:avLst/>
          </a:prstGeom>
          <a:solidFill>
            <a:srgbClr val="F5F7FA"/>
          </a:solidFill>
          <a:ln/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720840" y="21031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AUROC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720840" y="26974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Score의 분리 성능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720840" y="3108960"/>
            <a:ext cx="45720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720840" y="32004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Threshold에 무관한 ranking 지표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92240" y="4114800"/>
            <a:ext cx="5166360" cy="1965960"/>
          </a:xfrm>
          <a:prstGeom prst="rect">
            <a:avLst/>
          </a:prstGeom>
          <a:solidFill>
            <a:srgbClr val="F5F7FA"/>
          </a:solidFill>
          <a:ln/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720840" y="42976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F1-Score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720840" y="48920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Classification 성능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720840" y="5303520"/>
            <a:ext cx="45720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720840" y="53949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Precision과 Recall의 조화평균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Autoencoder 성능 개선 보고서  |  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8580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초기 모델 및 기준 성능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80467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방법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73152" cy="59436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모델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1945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기반 오토인코더 (Autoencoder)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31520" y="2697480"/>
            <a:ext cx="73152" cy="59436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914400" y="2697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학습 데이터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9718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정상(Normal) 이미지만으로 학습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31520" y="3474720"/>
            <a:ext cx="73152" cy="59436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914400" y="34747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Anomaly Score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37490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이미지와 재구성 이미지 간 L2 reconstruction error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31520" y="4617720"/>
            <a:ext cx="5440680" cy="155448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731520" y="4617720"/>
            <a:ext cx="73152" cy="155448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960120" y="47548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인식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" y="507492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 F1(0.90)에 도달하지 못함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 또한 낮아 점수 분리 한계 존재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92240" y="1508760"/>
            <a:ext cx="5166360" cy="4663440"/>
          </a:xfrm>
          <a:prstGeom prst="rect">
            <a:avLst/>
          </a:prstGeom>
          <a:solidFill>
            <a:srgbClr val="F5F7FA"/>
          </a:solidFill>
          <a:ln/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720840" y="1737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초기 성능 (Baseline)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720840" y="228600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0.72</a:t>
            </a:r>
            <a:endParaRPr lang="en-US" sz="7200" dirty="0"/>
          </a:p>
        </p:txBody>
      </p:sp>
      <p:sp>
        <p:nvSpPr>
          <p:cNvPr id="22" name="Text 20"/>
          <p:cNvSpPr/>
          <p:nvPr/>
        </p:nvSpPr>
        <p:spPr>
          <a:xfrm>
            <a:off x="6720840" y="33832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4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720840" y="3931920"/>
            <a:ext cx="47548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720840" y="406908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0.87</a:t>
            </a:r>
            <a:endParaRPr lang="en-US" sz="7200" dirty="0"/>
          </a:p>
        </p:txBody>
      </p:sp>
      <p:sp>
        <p:nvSpPr>
          <p:cNvPr id="25" name="Text 23"/>
          <p:cNvSpPr/>
          <p:nvPr/>
        </p:nvSpPr>
        <p:spPr>
          <a:xfrm>
            <a:off x="6720840" y="51663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4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720840" y="5623560"/>
            <a:ext cx="4572000" cy="41148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720840" y="56235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 F1 ≥ 0.90 미달 (−0.03)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Autoencoder 성능 개선 보고서  |  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8580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성능 한계 원인 분석 — 취약점 분석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80467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Analysis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관찰된 한계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2084832"/>
            <a:ext cx="274320" cy="274320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77240" y="2084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92024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병의 엣지(Edge) 및 질감 영역에서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정상 이미지도 Reconstruction Error가 큼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3044952"/>
            <a:ext cx="274320" cy="274320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77240" y="3044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288036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정상의 고오차 픽셀 오차값이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불량 픽셀의 오차값 범위와 겹침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1520" y="4114800"/>
            <a:ext cx="5440680" cy="2057400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731520" y="4114800"/>
            <a:ext cx="73152" cy="205740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960120" y="4251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문제의 핵심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4572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Anomaly Score가 </a:t>
            </a:r>
            <a:r>
              <a:rPr lang="en-US" sz="14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절대적 오차 크기</a:t>
            </a:r>
            <a:r>
              <a:rPr lang="en-US" sz="1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에만 의존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49834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위치별 특성을 고려하지 않아 정상 고오차 픽셀과 불량 픽셀을 구분 불가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60120" y="5669280"/>
            <a:ext cx="548640" cy="0"/>
          </a:xfrm>
          <a:prstGeom prst="line">
            <a:avLst/>
          </a:prstGeom>
          <a:noFill/>
          <a:ln w="254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960120" y="5715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Anomaly score 분포가 섞이며 AUROC 저하</a:t>
            </a:r>
            <a:endParaRPr lang="en-US" sz="120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6492240" y="1508760"/>
          <a:ext cx="52578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" name="Text 17"/>
          <p:cNvSpPr/>
          <p:nvPr/>
        </p:nvSpPr>
        <p:spPr>
          <a:xfrm>
            <a:off x="6492240" y="580644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정상/불량의 Score 분포가 겹쳐 명확한 Threshold 설정 불가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Autoencoder 성능 개선 보고서  |  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8580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시도 1 — 모델 용량 증가 (실패 사례)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80467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1: Capacity Scaling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적용 방법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73152" cy="6400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Epoch 증가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221284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→ 300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31520" y="2743200"/>
            <a:ext cx="73152" cy="6400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914400" y="27432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Encoder/Decoder 채널 수 증가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14400" y="30358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모델의 표현력 강화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31520" y="3566160"/>
            <a:ext cx="73152" cy="6400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914400" y="35661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 Normalization 추가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14400" y="385876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안정성 확보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31520" y="4617720"/>
            <a:ext cx="5440680" cy="1554480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731520" y="4617720"/>
            <a:ext cx="73152" cy="155448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960120" y="47548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해석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" y="507492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모델의 표현력은 충분히 확보됨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성능 한계는 모델 구조가 아니라 Anomaly Score 정의에 있음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92240" y="1508760"/>
            <a:ext cx="5166360" cy="4663440"/>
          </a:xfrm>
          <a:prstGeom prst="rect">
            <a:avLst/>
          </a:prstGeom>
          <a:solidFill>
            <a:srgbClr val="F5F7FA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6492240" y="1508760"/>
            <a:ext cx="5166360" cy="109728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720840" y="17830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1 — FAILURE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20840" y="2103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결과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720840" y="28346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20840" y="31089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유의미한 변화 없음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720840" y="3703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수준에서 사실상 정체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720840" y="4251960"/>
            <a:ext cx="47548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720840" y="4389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시사점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20840" y="466344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용량을 늘려도 Score 분포가 섞여 있으면 F1 개선은 불가능함. 문제는 Score 정의 자체에 있음.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Autoencoder 성능 개선 보고서  |  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8580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시도 2 — 잠재 특징(Latent Feature) 결합 (실패)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80467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2: Latent Feature Fusion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적용 방법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73152" cy="7315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Latent 통계 추출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2402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정상 데이터의 Latent Feature 평균 / 분산 활용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31520" y="2834640"/>
            <a:ext cx="73152" cy="7315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914400" y="28346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 결합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31546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재구성 오차 + Latent z-score 결합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31520" y="3977640"/>
            <a:ext cx="5440680" cy="219456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731520" y="3977640"/>
            <a:ext cx="73152" cy="219456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960120" y="4114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실패 원인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443484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인코더 용량이 커서 불량 이미지도 정상처럼 인코딩됨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space가 정상 / 불량을 분리하지 못함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구별력 없는 신호를 결합해 노이즈만 증가함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92240" y="1508760"/>
            <a:ext cx="5166360" cy="4663440"/>
          </a:xfrm>
          <a:prstGeom prst="rect">
            <a:avLst/>
          </a:prstGeom>
          <a:solidFill>
            <a:srgbClr val="F5F7FA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492240" y="1508760"/>
            <a:ext cx="5166360" cy="109728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720840" y="17830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2 — FAILURE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20840" y="2103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결과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720840" y="2880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720840" y="31546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0.62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6720840" y="4023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 → 0.62  (AUROC 하락)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281160" y="2880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281160" y="31546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0.86</a:t>
            </a:r>
            <a:endParaRPr lang="en-US" sz="4400" dirty="0"/>
          </a:p>
        </p:txBody>
      </p:sp>
      <p:sp>
        <p:nvSpPr>
          <p:cNvPr id="25" name="Text 23"/>
          <p:cNvSpPr/>
          <p:nvPr/>
        </p:nvSpPr>
        <p:spPr>
          <a:xfrm>
            <a:off x="9281160" y="4023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 → 0.86  (소폭 감소)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720840" y="4480560"/>
            <a:ext cx="47548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720840" y="46177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요약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20840" y="493776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AUROC가 오히려 크게 하락하여, latent 결합은 이 모델 구조에서 역효과임이 확인됨.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Autoencoder 성능 개선 보고서  |  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8580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 시도 3 — SSIM 기반 Error Map (실패)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80467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3: SSIM-based Error Map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적용 이유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73152" cy="6858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SSIM은 구조 정보를 반영 → 작은 결함에 민감하다는 선행 연구 기반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5440680" cy="333756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731520" y="2834640"/>
            <a:ext cx="73152" cy="333756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960120" y="2971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실패 원인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3291840"/>
            <a:ext cx="5029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오토인코더는 불량 입력도 정상 형태로 복원함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SSIM은 이를 구조적으로 유사하다고 높게 평가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정상 이미지의 질감 차이가 오히려 큰 오차로 반영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결과적으로 Anomaly Signal이 역전됨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92240" y="1508760"/>
            <a:ext cx="5166360" cy="4663440"/>
          </a:xfrm>
          <a:prstGeom prst="rect">
            <a:avLst/>
          </a:prstGeom>
          <a:solidFill>
            <a:srgbClr val="F5F7FA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492240" y="1508760"/>
            <a:ext cx="5166360" cy="109728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720840" y="17830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3 — FAILURE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720840" y="2103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결과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720840" y="2880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720840" y="31546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0.44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6720840" y="4023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랜덤 수준 이하 (신호 역전)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281160" y="2880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281160" y="31546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0.86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9281160" y="4023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미만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720840" y="4480560"/>
            <a:ext cx="47548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720840" y="46177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교훈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20840" y="493776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"정상 재구성 경향"을 가진 오토인코더에서는 구조 유사도 기반 Score가 오히려 독이 된다.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Autoencoder 성능 개선 보고서  |  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8580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 핵심 개선 방법 — 픽셀별 z-score 정규화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80467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Solution: Pixel-wise Z-score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아이디어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5440680" cy="9144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14400" y="196596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픽셀을 동일 기준으로 평가하는 기존 방식의 한계를 해결. 픽셀 위치별 정상 오차 분포를 기준으로 이상도를 계산.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3063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적용 방법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3520440"/>
            <a:ext cx="292608" cy="292608"/>
          </a:xfrm>
          <a:prstGeom prst="ellipse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77240" y="3520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88720" y="34747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정상 학습 이미지 전체를 모델에 다시 통과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3995928"/>
            <a:ext cx="292608" cy="292608"/>
          </a:xfrm>
          <a:prstGeom prst="ellipse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777240" y="39959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88720" y="395020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픽셀별 평균 오차  μ(x, y)  계산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" y="4471416"/>
            <a:ext cx="292608" cy="292608"/>
          </a:xfrm>
          <a:prstGeom prst="ellipse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77240" y="44714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88720" y="4425696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픽셀별 표준편차  σ(x, y)  계산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7240" y="4946904"/>
            <a:ext cx="292608" cy="292608"/>
          </a:xfrm>
          <a:prstGeom prst="ellipse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777240" y="49469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88720" y="4901184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Score를 z-score로 정규화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92240" y="1508760"/>
            <a:ext cx="5166360" cy="21488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720840" y="16459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수식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20840" y="20116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z(x, y) = </a:t>
            </a:r>
            <a:r>
              <a:rPr lang="en-US" sz="18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error(x, y) − μ(x, y)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406640" y="2606040"/>
            <a:ext cx="3200400" cy="0"/>
          </a:xfrm>
          <a:prstGeom prst="line">
            <a:avLst/>
          </a:prstGeom>
          <a:noFill/>
          <a:ln w="1905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720840" y="2697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σ(x, y)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720840" y="32461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정상 학습 데이터로부터 추정한 픽셀별 평균·표준편차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92240" y="3886200"/>
            <a:ext cx="5166360" cy="1188720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6492240" y="3886200"/>
            <a:ext cx="73152" cy="118872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6720840" y="40233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관점의 전환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720840" y="42976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"이 픽셀에서 이 정도의 오차가</a:t>
            </a:r>
            <a:endParaRPr lang="en-US" sz="1500" dirty="0"/>
          </a:p>
          <a:p>
            <a:pPr marL="0" indent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얼마나 드문가?"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492240" y="5303520"/>
            <a:ext cx="5166360" cy="86868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6675120" y="534924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동일한 오차값이라도 위치에 따라 이상도가 달라지므로 정상 엣지와 실제 결함을 구분 가능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Autoencoder 성능 개선 보고서  |  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8580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 픽셀별 z-score 적용 효과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80467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of Pixel-wise Normalization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5440680" cy="256032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31520" y="1508760"/>
            <a:ext cx="5440680" cy="9144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60120" y="1737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변화 전  |  BEFORE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214884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정상 엣지 픽셀과 불량 픽셀의 오차값이 유사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Score가 서로 겹쳐 분리 불가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 저하 → F1-Score 개선 한계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46520" y="1508760"/>
            <a:ext cx="5440680" cy="256032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446520" y="1508760"/>
            <a:ext cx="5440680" cy="9144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675120" y="1737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변화 후  |  AFTER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75120" y="214884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정상 엣지 픽셀 → 낮은 z-score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불량 픽셀 → 높은 z-score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Score 분리도가 크게 향상됨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343400"/>
            <a:ext cx="11155680" cy="1828800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731520" y="4343400"/>
            <a:ext cx="109728" cy="182880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051560" y="4480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51560" y="4754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성능 결과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754880" y="4526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8C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48006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8CA1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0.72</a:t>
            </a:r>
            <a:r>
              <a:rPr lang="en-US" sz="22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→  </a:t>
            </a: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0.88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412480" y="4526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8C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412480" y="48006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8CA1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0.87</a:t>
            </a:r>
            <a:r>
              <a:rPr lang="en-US" sz="22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→  </a:t>
            </a: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0.89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Autoencoder 성능 개선 보고서  |  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8580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 하이퍼파라미터 미세 조정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80467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for Final F1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11155680" cy="6858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73152" cy="6858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60120" y="1508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조정 이유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0120" y="1783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Score가 충분히 분리된 상태에서, 최종 Classification 성능(F1) 향상을 목적으로 하이퍼파라미터를 조정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377440"/>
            <a:ext cx="5440680" cy="27432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731520" y="2377440"/>
            <a:ext cx="91440" cy="274320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005840" y="2514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 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27889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Gaussian Blur Kernel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3246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크기 축소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05840" y="3749040"/>
            <a:ext cx="484632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005840" y="38404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효과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41148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과도한 Blur로 인한 작은 결함 희석을 방지 → 작은 결함 보존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46520" y="2377440"/>
            <a:ext cx="5440680" cy="27432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6446520" y="2377440"/>
            <a:ext cx="91440" cy="274320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720840" y="2514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 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720840" y="27889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Top-k Anomaly Pixel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720840" y="3246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비율 증가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720840" y="3749040"/>
            <a:ext cx="484632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720840" y="38404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효과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720840" y="41148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넓은 결함 영역도 충분히 포착 → 재현율(Recall) 증가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31520" y="5349240"/>
            <a:ext cx="11155680" cy="868680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731520" y="5349240"/>
            <a:ext cx="109728" cy="86868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1051560" y="53492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작은 결함 보존 + 넓은 결함 영역 재현율 증가  ⇒  F1-Score 추가 상승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Autoencoder 성능 개선 보고서  |  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8580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 최종 결과 (Test Dataset 기준)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80467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Performance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731520" y="1463040"/>
          <a:ext cx="749808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8503920" y="1463040"/>
            <a:ext cx="3383280" cy="4754880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8503920" y="1463040"/>
            <a:ext cx="3383280" cy="109728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8686800" y="17373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 |  TEST SET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686800" y="20574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최종 성능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686800" y="2743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8C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686800" y="30175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0.93</a:t>
            </a:r>
            <a:endParaRPr lang="en-US" sz="4800" dirty="0"/>
          </a:p>
        </p:txBody>
      </p:sp>
      <p:sp>
        <p:nvSpPr>
          <p:cNvPr id="12" name="Shape 9"/>
          <p:cNvSpPr/>
          <p:nvPr/>
        </p:nvSpPr>
        <p:spPr>
          <a:xfrm>
            <a:off x="8686800" y="3931920"/>
            <a:ext cx="3017520" cy="0"/>
          </a:xfrm>
          <a:prstGeom prst="line">
            <a:avLst/>
          </a:prstGeom>
          <a:noFill/>
          <a:ln w="12700">
            <a:solidFill>
              <a:srgbClr val="2A456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8686800" y="40233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8C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686800" y="42976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0.9206</a:t>
            </a:r>
            <a:endParaRPr lang="en-US" sz="4200" dirty="0"/>
          </a:p>
        </p:txBody>
      </p:sp>
      <p:sp>
        <p:nvSpPr>
          <p:cNvPr id="15" name="Shape 12"/>
          <p:cNvSpPr/>
          <p:nvPr/>
        </p:nvSpPr>
        <p:spPr>
          <a:xfrm>
            <a:off x="8686800" y="5303520"/>
            <a:ext cx="3017520" cy="68580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8686800" y="53035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목표 F1 ≥ 0.90 달성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Autoencoder 성능 개선 보고서  |  12 /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결론 및 분석 요약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5394960" cy="1280160"/>
          </a:xfrm>
          <a:prstGeom prst="rect">
            <a:avLst/>
          </a:prstGeom>
          <a:solidFill>
            <a:srgbClr val="112E4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73152" cy="128016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960120" y="1965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00200" y="19659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원인 재정의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233172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초기 성능 한계의 원인은 모델 복잡도가 아닌 Anomaly Score의 정의에 있었음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309360" y="1828800"/>
            <a:ext cx="5394960" cy="1280160"/>
          </a:xfrm>
          <a:prstGeom prst="rect">
            <a:avLst/>
          </a:prstGeom>
          <a:solidFill>
            <a:srgbClr val="112E4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6309360" y="1828800"/>
            <a:ext cx="73152" cy="128016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537960" y="1965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78040" y="19659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기존 방식의 한계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37960" y="233172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절대 오차 기반 방식은 정상 고오차 영역(엣지·질감)을 불량과 구분하지 못함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1520" y="3246120"/>
            <a:ext cx="5394960" cy="1280160"/>
          </a:xfrm>
          <a:prstGeom prst="rect">
            <a:avLst/>
          </a:prstGeom>
          <a:solidFill>
            <a:srgbClr val="112E4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731520" y="3246120"/>
            <a:ext cx="73152" cy="128016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960120" y="33832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600200" y="33832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핵심 개선 요소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0120" y="3749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픽셀별 정상 분포를 고려한 z-score 정규화가 분리도를 근본적으로 향상시킴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309360" y="3246120"/>
            <a:ext cx="5394960" cy="1280160"/>
          </a:xfrm>
          <a:prstGeom prst="rect">
            <a:avLst/>
          </a:prstGeom>
          <a:solidFill>
            <a:srgbClr val="112E4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6309360" y="3246120"/>
            <a:ext cx="73152" cy="128016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537960" y="33832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178040" y="33832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실용적 가치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537960" y="3749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재학습 없이도 목표 성능(F1 ≥ 0.90) 달성 — 후처리만으로 적용 가능한 경량 개선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31520" y="4937760"/>
            <a:ext cx="1828800" cy="0"/>
          </a:xfrm>
          <a:prstGeom prst="line">
            <a:avLst/>
          </a:prstGeom>
          <a:noFill/>
          <a:ln w="381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731520" y="507492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B8C5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Anomaly Detection에서는
</a:t>
            </a:r>
            <a:r>
              <a:rPr lang="en-US" sz="2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"오차의 크기"</a:t>
            </a:r>
            <a:r>
              <a:rPr lang="en-US" sz="2000" i="1" dirty="0">
                <a:solidFill>
                  <a:srgbClr val="B8C5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보다 </a:t>
            </a:r>
            <a:r>
              <a:rPr lang="en-US" sz="2200" b="1" i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"정상 대비 상대적 이상도"</a:t>
            </a:r>
            <a:r>
              <a:rPr lang="en-US" sz="2000" i="1" dirty="0">
                <a:solidFill>
                  <a:srgbClr val="B8C5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가 중요하다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31520" y="63550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F1-Score  0.8690  →  0.9206   (Test Dataset)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1122</Words>
  <Application>Microsoft Office PowerPoint</Application>
  <PresentationFormat>와이드스크린</PresentationFormat>
  <Paragraphs>238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CNN 오토인코더 성능 개선 분석 보고서</dc:title>
  <dc:subject>PptxGenJS Presentation</dc:subject>
  <dc:creator>PptxGenJS</dc:creator>
  <cp:lastModifiedBy>gunwoo kim</cp:lastModifiedBy>
  <cp:revision>3</cp:revision>
  <dcterms:created xsi:type="dcterms:W3CDTF">2026-04-20T13:17:11Z</dcterms:created>
  <dcterms:modified xsi:type="dcterms:W3CDTF">2026-04-20T13:28:23Z</dcterms:modified>
</cp:coreProperties>
</file>