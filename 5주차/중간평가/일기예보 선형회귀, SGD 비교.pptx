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9A1EE1-21A3-41AA-A712-04C5D6D2459B}" v="4" dt="2026-04-12T06:58:21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22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nwoo kim" userId="f81397dfb3116dc6" providerId="LiveId" clId="{46C8264E-75AD-42DD-AD5E-6711A97F4839}"/>
    <pc:docChg chg="undo custSel modSld">
      <pc:chgData name="gunwoo kim" userId="f81397dfb3116dc6" providerId="LiveId" clId="{46C8264E-75AD-42DD-AD5E-6711A97F4839}" dt="2026-04-12T06:58:21.873" v="40"/>
      <pc:docMkLst>
        <pc:docMk/>
      </pc:docMkLst>
      <pc:sldChg chg="addSp delSp modSp mod">
        <pc:chgData name="gunwoo kim" userId="f81397dfb3116dc6" providerId="LiveId" clId="{46C8264E-75AD-42DD-AD5E-6711A97F4839}" dt="2026-04-12T06:40:53.498" v="13" actId="478"/>
        <pc:sldMkLst>
          <pc:docMk/>
          <pc:sldMk cId="0" sldId="256"/>
        </pc:sldMkLst>
        <pc:spChg chg="add del">
          <ac:chgData name="gunwoo kim" userId="f81397dfb3116dc6" providerId="LiveId" clId="{46C8264E-75AD-42DD-AD5E-6711A97F4839}" dt="2026-04-12T06:40:53.498" v="13" actId="478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gunwoo kim" userId="f81397dfb3116dc6" providerId="LiveId" clId="{46C8264E-75AD-42DD-AD5E-6711A97F4839}" dt="2026-04-12T06:40:53.258" v="12" actId="478"/>
          <ac:spMkLst>
            <pc:docMk/>
            <pc:sldMk cId="0" sldId="256"/>
            <ac:spMk id="4" creationId="{00000000-0000-0000-0000-000000000000}"/>
          </ac:spMkLst>
        </pc:spChg>
        <pc:spChg chg="add del">
          <ac:chgData name="gunwoo kim" userId="f81397dfb3116dc6" providerId="LiveId" clId="{46C8264E-75AD-42DD-AD5E-6711A97F4839}" dt="2026-04-12T06:40:52.411" v="8" actId="478"/>
          <ac:spMkLst>
            <pc:docMk/>
            <pc:sldMk cId="0" sldId="256"/>
            <ac:spMk id="5" creationId="{00000000-0000-0000-0000-000000000000}"/>
          </ac:spMkLst>
        </pc:spChg>
        <pc:spChg chg="add del">
          <ac:chgData name="gunwoo kim" userId="f81397dfb3116dc6" providerId="LiveId" clId="{46C8264E-75AD-42DD-AD5E-6711A97F4839}" dt="2026-04-12T06:40:52.700" v="10" actId="478"/>
          <ac:spMkLst>
            <pc:docMk/>
            <pc:sldMk cId="0" sldId="256"/>
            <ac:spMk id="6" creationId="{00000000-0000-0000-0000-000000000000}"/>
          </ac:spMkLst>
        </pc:spChg>
        <pc:spChg chg="add del">
          <ac:chgData name="gunwoo kim" userId="f81397dfb3116dc6" providerId="LiveId" clId="{46C8264E-75AD-42DD-AD5E-6711A97F4839}" dt="2026-04-12T06:40:52.952" v="11" actId="478"/>
          <ac:spMkLst>
            <pc:docMk/>
            <pc:sldMk cId="0" sldId="256"/>
            <ac:spMk id="7" creationId="{00000000-0000-0000-0000-000000000000}"/>
          </ac:spMkLst>
        </pc:spChg>
        <pc:spChg chg="add del mod">
          <ac:chgData name="gunwoo kim" userId="f81397dfb3116dc6" providerId="LiveId" clId="{46C8264E-75AD-42DD-AD5E-6711A97F4839}" dt="2026-04-12T06:40:52.563" v="9" actId="6549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gunwoo kim" userId="f81397dfb3116dc6" providerId="LiveId" clId="{46C8264E-75AD-42DD-AD5E-6711A97F4839}" dt="2026-04-12T06:57:30.711" v="20"/>
        <pc:sldMkLst>
          <pc:docMk/>
          <pc:sldMk cId="0" sldId="257"/>
        </pc:sldMkLst>
        <pc:spChg chg="mod">
          <ac:chgData name="gunwoo kim" userId="f81397dfb3116dc6" providerId="LiveId" clId="{46C8264E-75AD-42DD-AD5E-6711A97F4839}" dt="2026-04-12T06:57:30.711" v="20"/>
          <ac:spMkLst>
            <pc:docMk/>
            <pc:sldMk cId="0" sldId="257"/>
            <ac:spMk id="29" creationId="{00000000-0000-0000-0000-000000000000}"/>
          </ac:spMkLst>
        </pc:spChg>
      </pc:sldChg>
      <pc:sldChg chg="modSp mod">
        <pc:chgData name="gunwoo kim" userId="f81397dfb3116dc6" providerId="LiveId" clId="{46C8264E-75AD-42DD-AD5E-6711A97F4839}" dt="2026-04-12T06:58:21.873" v="40"/>
        <pc:sldMkLst>
          <pc:docMk/>
          <pc:sldMk cId="0" sldId="260"/>
        </pc:sldMkLst>
        <pc:spChg chg="mod">
          <ac:chgData name="gunwoo kim" userId="f81397dfb3116dc6" providerId="LiveId" clId="{46C8264E-75AD-42DD-AD5E-6711A97F4839}" dt="2026-04-12T06:58:11.890" v="34" actId="20577"/>
          <ac:spMkLst>
            <pc:docMk/>
            <pc:sldMk cId="0" sldId="260"/>
            <ac:spMk id="25" creationId="{00000000-0000-0000-0000-000000000000}"/>
          </ac:spMkLst>
        </pc:spChg>
        <pc:spChg chg="mod">
          <ac:chgData name="gunwoo kim" userId="f81397dfb3116dc6" providerId="LiveId" clId="{46C8264E-75AD-42DD-AD5E-6711A97F4839}" dt="2026-04-12T06:58:21.873" v="40"/>
          <ac:spMkLst>
            <pc:docMk/>
            <pc:sldMk cId="0" sldId="260"/>
            <ac:spMk id="31" creationId="{00000000-0000-0000-0000-000000000000}"/>
          </ac:spMkLst>
        </pc:spChg>
      </pc:sldChg>
      <pc:sldChg chg="modSp mod">
        <pc:chgData name="gunwoo kim" userId="f81397dfb3116dc6" providerId="LiveId" clId="{46C8264E-75AD-42DD-AD5E-6711A97F4839}" dt="2026-04-12T06:48:11.808" v="14" actId="1076"/>
        <pc:sldMkLst>
          <pc:docMk/>
          <pc:sldMk cId="0" sldId="263"/>
        </pc:sldMkLst>
        <pc:spChg chg="mod">
          <ac:chgData name="gunwoo kim" userId="f81397dfb3116dc6" providerId="LiveId" clId="{46C8264E-75AD-42DD-AD5E-6711A97F4839}" dt="2026-04-12T06:48:11.808" v="14" actId="1076"/>
          <ac:spMkLst>
            <pc:docMk/>
            <pc:sldMk cId="0" sldId="263"/>
            <ac:spMk id="2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(℃)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Linear Regression</c:v>
                </c:pt>
                <c:pt idx="1">
                  <c:v>Mini-batch SGD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1.83</c:v>
                </c:pt>
                <c:pt idx="1">
                  <c:v>1.95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55-4EEC-9574-BA8D443B64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MAE (℃)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Linear Regression</c:v>
                </c:pt>
                <c:pt idx="1">
                  <c:v>Mini-batch SGD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1.45</c:v>
                </c:pt>
                <c:pt idx="1">
                  <c:v>1.58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55-4EEC-9574-BA8D443B64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A274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Regression 잔차</c:v>
                </c:pt>
              </c:strCache>
            </c:strRef>
          </c:tx>
          <c:spPr>
            <a:ln w="25400" cap="flat">
              <a:solidFill>
                <a:srgbClr val="4FC3F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C3F7"/>
              </a:solidFill>
              <a:ln w="9525" cap="flat">
                <a:solidFill>
                  <a:srgbClr val="4FC3F7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  <c:pt idx="6">
                  <c:v>Day 7</c:v>
                </c:pt>
                <c:pt idx="7">
                  <c:v>Day 8</c:v>
                </c:pt>
                <c:pt idx="8">
                  <c:v>Day 9</c:v>
                </c:pt>
                <c:pt idx="9">
                  <c:v>Day 10</c:v>
                </c:pt>
                <c:pt idx="10">
                  <c:v>Day 11</c:v>
                </c:pt>
                <c:pt idx="11">
                  <c:v>Day 12</c:v>
                </c:pt>
                <c:pt idx="12">
                  <c:v>Day 13</c:v>
                </c:pt>
                <c:pt idx="13">
                  <c:v>Day 14</c:v>
                </c:pt>
                <c:pt idx="14">
                  <c:v>Day 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-0.8</c:v>
                </c:pt>
                <c:pt idx="1">
                  <c:v>1.2</c:v>
                </c:pt>
                <c:pt idx="2">
                  <c:v>-0.5</c:v>
                </c:pt>
                <c:pt idx="3">
                  <c:v>0.9</c:v>
                </c:pt>
                <c:pt idx="4">
                  <c:v>-1.1000000000000001</c:v>
                </c:pt>
                <c:pt idx="5">
                  <c:v>0.7</c:v>
                </c:pt>
                <c:pt idx="6">
                  <c:v>-0.3</c:v>
                </c:pt>
                <c:pt idx="7">
                  <c:v>1.5</c:v>
                </c:pt>
                <c:pt idx="8">
                  <c:v>-0.6</c:v>
                </c:pt>
                <c:pt idx="9">
                  <c:v>0.4</c:v>
                </c:pt>
                <c:pt idx="10">
                  <c:v>-1.3</c:v>
                </c:pt>
                <c:pt idx="11">
                  <c:v>0.8</c:v>
                </c:pt>
                <c:pt idx="12">
                  <c:v>-0.2</c:v>
                </c:pt>
                <c:pt idx="13">
                  <c:v>1</c:v>
                </c:pt>
                <c:pt idx="14">
                  <c:v>-0.7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465-40F2-9DF2-1FCB64F9DC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Mini-batch SGD 잔차</c:v>
                </c:pt>
              </c:strCache>
            </c:strRef>
          </c:tx>
          <c:spPr>
            <a:ln w="25400" cap="flat">
              <a:solidFill>
                <a:srgbClr val="FF6B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B6B"/>
              </a:solidFill>
              <a:ln w="9525" cap="flat">
                <a:solidFill>
                  <a:srgbClr val="FF6B6B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  <c:pt idx="6">
                  <c:v>Day 7</c:v>
                </c:pt>
                <c:pt idx="7">
                  <c:v>Day 8</c:v>
                </c:pt>
                <c:pt idx="8">
                  <c:v>Day 9</c:v>
                </c:pt>
                <c:pt idx="9">
                  <c:v>Day 10</c:v>
                </c:pt>
                <c:pt idx="10">
                  <c:v>Day 11</c:v>
                </c:pt>
                <c:pt idx="11">
                  <c:v>Day 12</c:v>
                </c:pt>
                <c:pt idx="12">
                  <c:v>Day 13</c:v>
                </c:pt>
                <c:pt idx="13">
                  <c:v>Day 14</c:v>
                </c:pt>
                <c:pt idx="14">
                  <c:v>Day 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-1.8</c:v>
                </c:pt>
                <c:pt idx="1">
                  <c:v>2.5</c:v>
                </c:pt>
                <c:pt idx="2">
                  <c:v>-0.3</c:v>
                </c:pt>
                <c:pt idx="3">
                  <c:v>2.1</c:v>
                </c:pt>
                <c:pt idx="4">
                  <c:v>-2.4</c:v>
                </c:pt>
                <c:pt idx="5">
                  <c:v>1.8</c:v>
                </c:pt>
                <c:pt idx="6">
                  <c:v>-0.8</c:v>
                </c:pt>
                <c:pt idx="7">
                  <c:v>3</c:v>
                </c:pt>
                <c:pt idx="8">
                  <c:v>-1.5</c:v>
                </c:pt>
                <c:pt idx="9">
                  <c:v>1.2</c:v>
                </c:pt>
                <c:pt idx="10">
                  <c:v>-2.8</c:v>
                </c:pt>
                <c:pt idx="11">
                  <c:v>2.2000000000000002</c:v>
                </c:pt>
                <c:pt idx="12">
                  <c:v>-0.5</c:v>
                </c:pt>
                <c:pt idx="13">
                  <c:v>2.5</c:v>
                </c:pt>
                <c:pt idx="14">
                  <c:v>-1.9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465-40F2-9DF2-1FCB64F9DC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5454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943600" y="365760"/>
            <a:ext cx="4114800" cy="4114800"/>
          </a:xfrm>
          <a:prstGeom prst="ellipse">
            <a:avLst/>
          </a:prstGeom>
          <a:solidFill>
            <a:srgbClr val="162454"/>
          </a:solidFill>
          <a:ln w="25400">
            <a:solidFill>
              <a:srgbClr val="4FC3F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400800" y="731520"/>
            <a:ext cx="3200400" cy="3200400"/>
          </a:xfrm>
          <a:prstGeom prst="ellipse">
            <a:avLst/>
          </a:prstGeom>
          <a:solidFill>
            <a:srgbClr val="162454"/>
          </a:solidFill>
          <a:ln w="12700">
            <a:solidFill>
              <a:srgbClr val="4FC3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589520" y="1371600"/>
            <a:ext cx="822960" cy="73152"/>
          </a:xfrm>
          <a:prstGeom prst="rect">
            <a:avLst/>
          </a:prstGeom>
          <a:solidFill>
            <a:srgbClr val="4FC3F7">
              <a:alpha val="70000"/>
            </a:srgbClr>
          </a:solidFill>
          <a:ln w="12700">
            <a:solidFill>
              <a:srgbClr val="4FC3F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589520" y="1920240"/>
            <a:ext cx="822960" cy="73152"/>
          </a:xfrm>
          <a:prstGeom prst="rect">
            <a:avLst/>
          </a:prstGeom>
          <a:solidFill>
            <a:srgbClr val="4FC3F7">
              <a:alpha val="55000"/>
            </a:srgbClr>
          </a:solidFill>
          <a:ln w="12700">
            <a:solidFill>
              <a:srgbClr val="4FC3F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589520" y="2468880"/>
            <a:ext cx="822960" cy="73152"/>
          </a:xfrm>
          <a:prstGeom prst="rect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132320" y="8229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🌡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 데이터 기반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 기온 예측</a:t>
            </a:r>
            <a:endParaRPr lang="en-US" sz="46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54864" cy="502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선형회귀 vs Mini-batch SGD 비교 분석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학번 </a:t>
            </a:r>
            <a:r>
              <a:rPr lang="en-US" altLang="ko-KR" sz="12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2026254022</a:t>
            </a:r>
          </a:p>
          <a:p>
            <a:pPr marL="0" indent="0">
              <a:buNone/>
            </a:pPr>
            <a:r>
              <a:rPr lang="ko-KR" altLang="en-US" sz="12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</a:t>
            </a:r>
            <a:r>
              <a:rPr lang="en-US" altLang="ko-KR" sz="12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2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김건우</a:t>
            </a:r>
            <a:endParaRPr lang="en-US" altLang="ko-KR" sz="1200" dirty="0">
              <a:solidFill>
                <a:srgbClr val="7B8CA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</a:t>
            </a:r>
            <a:r>
              <a:rPr lang="en-US" sz="12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 성능 비교 발표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6B6B">
              <a:alpha val="60000"/>
            </a:srgbClr>
          </a:solidFill>
          <a:ln w="12700">
            <a:solidFill>
              <a:srgbClr val="FF6B6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목적 &amp; 데이터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프로젝트의 목표와 사용 데이터셋 소개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0040" y="1143000"/>
            <a:ext cx="4023360" cy="475488"/>
          </a:xfrm>
          <a:prstGeom prst="rect">
            <a:avLst/>
          </a:prstGeom>
          <a:solidFill>
            <a:srgbClr val="162454"/>
          </a:solidFill>
          <a:ln w="12700">
            <a:solidFill>
              <a:srgbClr val="1624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11704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 분석 목적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810512"/>
            <a:ext cx="274320" cy="2743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1783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3월 기온 예측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633472"/>
            <a:ext cx="274320" cy="2743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0292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데이터 전처리 구조 이해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456432"/>
            <a:ext cx="274320" cy="2743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429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선형회귀와 Mini-batch SGD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비교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0060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800600" y="1143000"/>
            <a:ext cx="4023360" cy="47548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937760" y="117043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 데이터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37760" y="1755648"/>
            <a:ext cx="77724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937760" y="175564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06440" y="175564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기상청 일별 기온 데이터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2596896"/>
            <a:ext cx="77724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937760" y="259689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06440" y="259689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</a:t>
            </a:r>
            <a:r>
              <a:rPr lang="ko-KR" alt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</a:t>
            </a: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– 2026년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37760" y="3438144"/>
            <a:ext cx="77724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937760" y="343814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06440" y="343814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· 최저 · 최고기온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내용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데이터의 문제점 발견 및 처리 과정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0040" y="1188720"/>
            <a:ext cx="64008" cy="1645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84632" y="14173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280160" y="1389888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형식 정규화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18288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공백·탭 제거 후 datetime 변환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1887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800600" y="1188720"/>
            <a:ext cx="64008" cy="1645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965192" y="14173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🗑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760720" y="1389888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비정상 행 제거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60720" y="18288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없는 행 1개 삭제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0632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20040" y="3063240"/>
            <a:ext cx="64008" cy="1645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4632" y="32918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280160" y="3264408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설정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7033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DatetimeIndex로 변환하여 시계열 구조 확립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0632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800600" y="3063240"/>
            <a:ext cx="64008" cy="1645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965192" y="32918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760720" y="3264408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 확인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60720" y="37033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평균기온 결측치 1건 </a:t>
            </a:r>
            <a:r>
              <a:rPr lang="en-US" sz="1200" dirty="0" err="1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존재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 처리 선택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기반 보간(Time Interpolation) 적용 이유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229600" cy="73152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4400" y="1152144"/>
            <a:ext cx="329184" cy="329184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1554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N-2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1920240"/>
            <a:ext cx="73152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19202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12.3℃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17520" y="1152144"/>
            <a:ext cx="329184" cy="329184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788920" y="1554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N-1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34640" y="1920240"/>
            <a:ext cx="73152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834640" y="19202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13.1℃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20640" y="1152144"/>
            <a:ext cx="329184" cy="3291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892040" y="1554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1920240"/>
            <a:ext cx="731520" cy="3840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937760" y="19202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23760" y="1152144"/>
            <a:ext cx="329184" cy="329184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995160" y="1554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N+1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0" y="1920240"/>
            <a:ext cx="73152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040880" y="19202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14.5℃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0" y="2423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보간 추정 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92608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57200" y="3017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57200" y="3520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연속성 유지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91363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시계열의 흐름을 끊지 않고 유지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37560" y="292608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337560" y="3017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📏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3337560" y="3520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간격 반영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37560" y="391363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거리에 비례한 보간값 계산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292608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217920" y="3017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217920" y="3520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손실 최소화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17920" y="391363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삭제 없이 1건 결측 처리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Engineering &amp; 데이터 분리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시차 변수 및 이동평균 생성, 학습/테스트 분리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0040" y="1143000"/>
            <a:ext cx="4114800" cy="457200"/>
          </a:xfrm>
          <a:prstGeom prst="rect">
            <a:avLst/>
          </a:prstGeom>
          <a:solidFill>
            <a:srgbClr val="162454"/>
          </a:solidFill>
          <a:ln w="12700">
            <a:solidFill>
              <a:srgbClr val="1624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116128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  Feature Engineering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1691640"/>
            <a:ext cx="914400" cy="4389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" y="16916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lag_1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170992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전날 평균기온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08760" y="192938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 시차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560320"/>
            <a:ext cx="914400" cy="438912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02920" y="25603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lag_7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257860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전 평균기온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27980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시차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429000"/>
            <a:ext cx="914400" cy="43891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34290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ma_7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44728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이동평균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36667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Rolling Mean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251960"/>
            <a:ext cx="365760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48640" y="4270248"/>
            <a:ext cx="35661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100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</a:t>
            </a:r>
            <a:r>
              <a:rPr lang="en-US" sz="1100" dirty="0" err="1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</a:t>
            </a:r>
            <a:r>
              <a:rPr lang="en-US" sz="1100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정보 사용 금지 — 과거값만 사용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114300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709160" y="1143000"/>
            <a:ext cx="4114800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846320" y="116128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📂  데이터 분리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1737360"/>
            <a:ext cx="3749040" cy="12344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983480" y="17830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🏋  학습 데이터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83480" y="21488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76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</a:t>
            </a:r>
            <a:r>
              <a:rPr lang="ko-KR" altLang="en-US" sz="1200" dirty="0">
                <a:solidFill>
                  <a:srgbClr val="1976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</a:t>
            </a:r>
            <a:r>
              <a:rPr lang="en-US" sz="1200" dirty="0">
                <a:solidFill>
                  <a:srgbClr val="1976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– 2025년 3월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976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(8</a:t>
            </a:r>
            <a:r>
              <a:rPr lang="ko-KR" altLang="en-US" sz="1200" dirty="0">
                <a:solidFill>
                  <a:srgbClr val="1976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</a:t>
            </a:r>
            <a:r>
              <a:rPr lang="en-US" sz="1200" dirty="0">
                <a:solidFill>
                  <a:srgbClr val="1976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× 31일)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92040" y="3090672"/>
            <a:ext cx="3749040" cy="1234440"/>
          </a:xfrm>
          <a:prstGeom prst="rect">
            <a:avLst/>
          </a:prstGeom>
          <a:solidFill>
            <a:srgbClr val="FCE4EC"/>
          </a:solidFill>
          <a:ln w="12700">
            <a:solidFill>
              <a:srgbClr val="F48F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983480" y="31363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D14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 테스트 데이터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83480" y="350215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18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3월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218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(예측 대상)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모델 설명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모델의 학습 방식과 특성 비교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4206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4206240" cy="566928"/>
          </a:xfrm>
          <a:prstGeom prst="rect">
            <a:avLst/>
          </a:prstGeom>
          <a:solidFill>
            <a:srgbClr val="162454"/>
          </a:solidFill>
          <a:ln w="12700">
            <a:solidFill>
              <a:srgbClr val="1624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11480" y="11887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Linear Regression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📐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234440" y="1828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데이터를 한 번에 사용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(Batch 방식)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49808" y="25603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해석이 용이하고 직관적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49808" y="30358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안정적인 최적해 계산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49808" y="35112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데이터에 적합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05072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49808" y="39867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학습 속도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143000"/>
            <a:ext cx="4206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663440" y="1143000"/>
            <a:ext cx="4206240" cy="56692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00600" y="11887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Mini-batch SGD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54880" y="18288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5532120" y="1828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배치 단위로 반복 학습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(점진적 경사하강)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2578608"/>
            <a:ext cx="201168" cy="20116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093208" y="25603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확장성·온라인 학습에 유리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3054096"/>
            <a:ext cx="201168" cy="20116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093208" y="30358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데이터 처리 가능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3529584"/>
            <a:ext cx="201168" cy="20116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093208" y="35112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변수 표준화 필요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4005072"/>
            <a:ext cx="201168" cy="20116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093208" y="39867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노이즈 존재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성능 비교 결과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평균기온 예측 — RMSE &amp; MAE 지표 비교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9" name="Chart 0"/>
          <p:cNvGraphicFramePr/>
          <p:nvPr/>
        </p:nvGraphicFramePr>
        <p:xfrm>
          <a:off x="365760" y="114300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669280" y="1188720"/>
            <a:ext cx="3200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669280" y="1188720"/>
            <a:ext cx="3200400" cy="42062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760720" y="122529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🏆  Linear Regression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60720" y="17190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RMSE: 1.83℃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760720" y="2057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MAE:  1.45℃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0" y="3063240"/>
            <a:ext cx="3200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5669280" y="3063240"/>
            <a:ext cx="3200400" cy="42062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760720" y="30998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Mini-batch SGD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760720" y="35935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RMSE: 1.95℃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760720" y="3931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MAE:  1.58℃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669280" y="4572000"/>
            <a:ext cx="3200400" cy="32004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5715000" y="4590288"/>
            <a:ext cx="3108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최저·최고기온도 동일한 경향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잔차(Residual) 비교 해석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모델의 오차 분포 패턴 분석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9" name="Chart 0"/>
          <p:cNvGraphicFramePr/>
          <p:nvPr/>
        </p:nvGraphicFramePr>
        <p:xfrm>
          <a:off x="365760" y="1143000"/>
          <a:ext cx="53035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806440" y="1188720"/>
            <a:ext cx="3063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806440" y="1188720"/>
            <a:ext cx="54864" cy="1600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61888" y="12984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선형회귀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61888" y="16916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잔차 분산 작음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61888" y="20116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0 주변에 밀집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61888" y="23317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안정적 수렴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06440" y="3017520"/>
            <a:ext cx="3063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5806440" y="3017520"/>
            <a:ext cx="54864" cy="1600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961888" y="31272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Mini-batch SGD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61888" y="35204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잔차 변동폭 큼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61888" y="38404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수렴 노이즈 존재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61888" y="41605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진동 패턴 확인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516483"/>
            <a:ext cx="8412480" cy="384048"/>
          </a:xfrm>
          <a:prstGeom prst="rect">
            <a:avLst/>
          </a:prstGeom>
          <a:solidFill>
            <a:srgbClr val="E8F4FD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502920" y="4480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소규모·선형 데이터에서 Linear Regression이 글로벌 최적해에 더 가까운 결과를 도출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20116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1645920"/>
          </a:xfrm>
          <a:prstGeom prst="rect">
            <a:avLst/>
          </a:prstGeom>
          <a:solidFill>
            <a:srgbClr val="162454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1148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11887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품질 개선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600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전처리로 시계열 데이터의 연속성 및 정확성 확보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4114800" cy="1645920"/>
          </a:xfrm>
          <a:prstGeom prst="rect">
            <a:avLst/>
          </a:prstGeom>
          <a:solidFill>
            <a:srgbClr val="162454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4114800" cy="64008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83480" y="11887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806440" y="11887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68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 특성 반영 변수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1600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lag_1, lag_7, ma_7로 시계열 패턴 포착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4114800" cy="1645920"/>
          </a:xfrm>
          <a:prstGeom prst="rect">
            <a:avLst/>
          </a:prstGeom>
          <a:solidFill>
            <a:srgbClr val="162454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4114800" cy="640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" y="30632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325880" y="30632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선형회귀 우수 성능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474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데이터에서 RMSE 1.83℃ — SGD 대비 우위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880360"/>
            <a:ext cx="4114800" cy="1645920"/>
          </a:xfrm>
          <a:prstGeom prst="rect">
            <a:avLst/>
          </a:prstGeom>
          <a:solidFill>
            <a:srgbClr val="162454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846320" y="2880360"/>
            <a:ext cx="41148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983480" y="30632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806440" y="30632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SGD의 강점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06440" y="3474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· 온라인 학습 시나리오에서 확장성 우위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6B6B">
              <a:alpha val="60000"/>
            </a:srgbClr>
          </a:solidFill>
          <a:ln w="12700">
            <a:solidFill>
              <a:srgbClr val="FF6B6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493</Words>
  <Application>Microsoft Office PowerPoint</Application>
  <PresentationFormat>화면 슬라이드 쇼(16:9)</PresentationFormat>
  <Paragraphs>146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기상 데이터 기반 3월 기온 예측</dc:title>
  <dc:subject>PptxGenJS Presentation</dc:subject>
  <dc:creator>PptxGenJS</dc:creator>
  <cp:lastModifiedBy>gunwoo kim</cp:lastModifiedBy>
  <cp:revision>2</cp:revision>
  <dcterms:created xsi:type="dcterms:W3CDTF">2026-04-12T05:42:53Z</dcterms:created>
  <dcterms:modified xsi:type="dcterms:W3CDTF">2026-04-12T06:58:28Z</dcterms:modified>
</cp:coreProperties>
</file>