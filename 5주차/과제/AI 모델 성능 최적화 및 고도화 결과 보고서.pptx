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7906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217920" y="73152"/>
            <a:ext cx="2926080" cy="507034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492240" y="45720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995160" y="45720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498080" y="45720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001000" y="45720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503920" y="45720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995160" y="118872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498080" y="118872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001000" y="118872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503920" y="118872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92240" y="192024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995160" y="192024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498080" y="192024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001000" y="192024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503920" y="192024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492240" y="265176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995160" y="265176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498080" y="265176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001000" y="265176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503920" y="265176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492240" y="338328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995160" y="338328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498080" y="338328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001000" y="338328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8503920" y="338328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492240" y="411480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995160" y="411480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498080" y="411480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8001000" y="411480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503920" y="411480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48640" y="914400"/>
            <a:ext cx="2377440" cy="34747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48640" y="914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</a:rPr>
              <a:t>Predictive Maintenance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141732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제조 설비 고장 예측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모델 실습</a:t>
            </a:r>
            <a:endParaRPr lang="en-US" sz="3800" dirty="0"/>
          </a:p>
        </p:txBody>
      </p:sp>
      <p:sp>
        <p:nvSpPr>
          <p:cNvPr id="37" name="Text 35"/>
          <p:cNvSpPr/>
          <p:nvPr/>
        </p:nvSpPr>
        <p:spPr>
          <a:xfrm>
            <a:off x="45720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dirty="0">
                <a:solidFill>
                  <a:srgbClr val="94A3B8"/>
                </a:solidFill>
              </a:rPr>
              <a:t>이름 </a:t>
            </a:r>
            <a:r>
              <a:rPr lang="en-US" altLang="ko-KR" sz="1600" dirty="0">
                <a:solidFill>
                  <a:srgbClr val="94A3B8"/>
                </a:solidFill>
              </a:rPr>
              <a:t>: </a:t>
            </a:r>
            <a:r>
              <a:rPr lang="ko-KR" altLang="en-US" sz="1600" dirty="0">
                <a:solidFill>
                  <a:srgbClr val="94A3B8"/>
                </a:solidFill>
              </a:rPr>
              <a:t>김건우</a:t>
            </a:r>
            <a:endParaRPr lang="en-US" altLang="ko-KR" sz="1600" dirty="0">
              <a:solidFill>
                <a:srgbClr val="94A3B8"/>
              </a:solidFill>
            </a:endParaRPr>
          </a:p>
          <a:p>
            <a:r>
              <a:rPr lang="ko-KR" altLang="en-US" sz="1600" dirty="0">
                <a:solidFill>
                  <a:srgbClr val="94A3B8"/>
                </a:solidFill>
              </a:rPr>
              <a:t>학번 </a:t>
            </a:r>
            <a:r>
              <a:rPr lang="en-US" altLang="ko-KR" sz="1600" dirty="0">
                <a:solidFill>
                  <a:srgbClr val="94A3B8"/>
                </a:solidFill>
              </a:rPr>
              <a:t>:</a:t>
            </a:r>
            <a:r>
              <a:rPr lang="ko-KR" altLang="en-US" sz="1600" dirty="0">
                <a:solidFill>
                  <a:srgbClr val="94A3B8"/>
                </a:solidFill>
              </a:rPr>
              <a:t> </a:t>
            </a:r>
            <a:r>
              <a:rPr lang="en-US" altLang="ko-KR" sz="1600" dirty="0">
                <a:solidFill>
                  <a:srgbClr val="94A3B8"/>
                </a:solidFill>
              </a:rPr>
              <a:t>2026254022 </a:t>
            </a:r>
          </a:p>
          <a:p>
            <a:r>
              <a:rPr lang="en-US" sz="1600" dirty="0" err="1">
                <a:solidFill>
                  <a:srgbClr val="94A3B8"/>
                </a:solidFill>
              </a:rPr>
              <a:t>평가</a:t>
            </a:r>
            <a:r>
              <a:rPr lang="en-US" sz="1600" dirty="0">
                <a:solidFill>
                  <a:srgbClr val="94A3B8"/>
                </a:solidFill>
              </a:rPr>
              <a:t> 전략 개선으로 F1-Score 극대화하기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7200" y="4023360"/>
            <a:ext cx="1737360" cy="6400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57200" y="4023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모델
</a:t>
            </a:r>
            <a:r>
              <a:rPr lang="en-US" sz="1000" dirty="0">
                <a:solidFill>
                  <a:srgbClr val="BFDBFE"/>
                </a:solidFill>
              </a:rPr>
              <a:t>MLP 기반 분류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377440" y="4023360"/>
            <a:ext cx="1737360" cy="6400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377440" y="4023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전략
</a:t>
            </a:r>
            <a:r>
              <a:rPr lang="en-US" sz="1000" dirty="0">
                <a:solidFill>
                  <a:srgbClr val="BFDBFE"/>
                </a:solidFill>
              </a:rPr>
              <a:t>임계값 최적화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297680" y="4023360"/>
            <a:ext cx="1737360" cy="6400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297680" y="4023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목표
</a:t>
            </a:r>
            <a:r>
              <a:rPr lang="en-US" sz="1000" dirty="0">
                <a:solidFill>
                  <a:srgbClr val="BFDBFE"/>
                </a:solidFill>
              </a:rPr>
              <a:t>F1-Score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1  |  실습 개요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3931920" cy="4114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393192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 실습 목적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14173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제조 설비 데이터 기반 고장 예측(Predictive Maintenance) 모델 개발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23317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베이스라인 모델 성능 분석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" y="3246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평가지표 불균형 원인 파악 및 성능 개선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868680"/>
            <a:ext cx="4297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26280" y="868680"/>
            <a:ext cx="42976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26280" y="868680"/>
            <a:ext cx="429768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실습 내용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1490472"/>
            <a:ext cx="45720" cy="5029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92040" y="14630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MLP 기반 분류 모델 학습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2404872"/>
            <a:ext cx="457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92040" y="23774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고정 임계값 기반 평가의 한계 분석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3319272"/>
            <a:ext cx="457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92040" y="32918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F1-Score 기반 평가 전략 도입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F8A"/>
                </a:solidFill>
              </a:rPr>
              <a:t>📌  본 실습은 모델 구조 개선보다 평가 전략 개선의 효과를 확인하는 데 중점을 둠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2  |  베이스라인 모델 구성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743200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🏗  모델 구조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" y="1536192"/>
            <a:ext cx="45720" cy="43891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12648" y="148132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입력: 센서 데이터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" y="2496312"/>
            <a:ext cx="45720" cy="43891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12648" y="244144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모델: 다층 퍼셉트론 (MLP)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" y="3456432"/>
            <a:ext cx="45720" cy="43891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12648" y="34015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출력: 고장 발생 확률 (0 ~ 1)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86868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246120" y="868680"/>
            <a:ext cx="27432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24612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  학습 설정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10712" y="1536192"/>
            <a:ext cx="457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538728" y="148132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Loss: Binary Cross-Entropy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10712" y="2496312"/>
            <a:ext cx="457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538728" y="244144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Optimizer: Adam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10712" y="3456432"/>
            <a:ext cx="457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538728" y="34015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Epoch: 30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86868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172200" y="868680"/>
            <a:ext cx="2743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17220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초기 평가 방식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36792" y="1536192"/>
            <a:ext cx="457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64808" y="148132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Threshold = 0.5 고정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36792" y="2496312"/>
            <a:ext cx="457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464808" y="244144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Accuracy, Precision,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Recall, F1-Score로 평가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971800" y="2651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897880" y="2651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3  |  베이스라인 모델 성능 결과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6060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80160" y="1097280"/>
            <a:ext cx="685800" cy="68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80160" y="1097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↑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19019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</a:rPr>
              <a:t>매우 높음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2286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Recall (재현율)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651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</a:rPr>
              <a:t>고장을 거의 놓치지 않음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86868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154680" y="868680"/>
            <a:ext cx="260604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114800" y="1097280"/>
            <a:ext cx="685800" cy="6858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114800" y="1097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154680" y="19019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</a:rPr>
              <a:t>매우 낮음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54680" y="2286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Precision (정밀도)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54680" y="2651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</a:rPr>
              <a:t>오탐(False Positive) 다수 발생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86868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989320" y="868680"/>
            <a:ext cx="2606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0" y="109728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949440" y="1097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!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989320" y="19019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낮은 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89320" y="2286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F1-Score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89320" y="2651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</a:rPr>
              <a:t>Recall과 Precision 간 불균형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611880"/>
            <a:ext cx="8503920" cy="11887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20040" y="361188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48640" y="361188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📊  해석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393192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모델이 고장을 거의 놓치지 않지만, 정상 상태를 고장으로 잘못 판단하는 오탐이 다수 발생.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Accuracy 중심 평가는 실제 고장 탐지 성능을 왜곡할 수 있음.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4  |  평가지표 불균형 원인 분석 ①  —  클래스 불균형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114800" cy="4114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41148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데이터 특성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8A"/>
                </a:solidFill>
              </a:rPr>
              <a:t>정상 데이터  ≫≫  고장 데이터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전형적인 제조 설비 데이터 분포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30403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34975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정상 (0)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416052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3383280"/>
            <a:ext cx="873252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고장 (1)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709160" y="868680"/>
            <a:ext cx="41148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09160" y="868680"/>
            <a:ext cx="41148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영향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92040" y="1508760"/>
            <a:ext cx="365760" cy="36576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9204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1508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고장 클래스(1)를 과도하게 예측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2377440"/>
            <a:ext cx="365760" cy="36576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920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377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False Positive 증가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3246120"/>
            <a:ext cx="365760" cy="36576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920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32461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Precision 급격한 감소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4160520"/>
            <a:ext cx="4114800" cy="54864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709160" y="4160520"/>
            <a:ext cx="411480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F8A"/>
                </a:solidFill>
              </a:rPr>
              <a:t>📌  Accuracy 중심 평가는 실제 고장 탐지 성능을 왜곡할 수 있음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5  |  평가지표 불균형 원인 분석 ②  —  고정 임계값의 한계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F8A"/>
                </a:solidFill>
              </a:rPr>
              <a:t>Threshold = 0.5  는  클래스 균형을 가정한 기준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508760"/>
            <a:ext cx="731520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1508760"/>
            <a:ext cx="365760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정상 (0)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고장 (1)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1417320"/>
            <a:ext cx="914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297680" y="1325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0.5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4114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41148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411480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문제점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32688" y="306324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0.5는 클래스 균형을 가정한 기준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32688" y="365760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불균형 데이터에서 최적 기준 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2560320"/>
            <a:ext cx="4114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800600" y="2560320"/>
            <a:ext cx="41148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00600" y="2560320"/>
            <a:ext cx="411480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결과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83480" y="310896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276088" y="306324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낮은 확률에서도 고장으로 판단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83480" y="370332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276088" y="365760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오탐(False Positive) 폭증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83480" y="42976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276088" y="425196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Precision 저하 → F1-Score 하락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F8A"/>
                </a:solidFill>
              </a:rPr>
              <a:t>📌  임계값 선택이 성능에 결정적 영향을 미침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6  |  평가지표 불균형 원인 분석 ③  —  Precision–Recall Trade-off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5029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8A"/>
                </a:solidFill>
              </a:rPr>
              <a:t>Precision–Recall Trade-off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88720" y="2468880"/>
            <a:ext cx="338328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834640" y="2560320"/>
            <a:ext cx="91440" cy="548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1371600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Recall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높음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49040" y="2103120"/>
            <a:ext cx="137160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749040" y="21031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Precision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낮음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502920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502920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베이스라인: Recall 중심 예측, Precision 고려 부족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예측 유지보수 관점에서는 두 지표의 균형이 중요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868680"/>
            <a:ext cx="3063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760720" y="868680"/>
            <a:ext cx="306324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760720" y="868680"/>
            <a:ext cx="306324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F1-Score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0" y="14173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F1 = 2 ×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1600200"/>
            <a:ext cx="1645920" cy="4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766560" y="1325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</a:rPr>
              <a:t>P × 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F8A"/>
                </a:solidFill>
              </a:rPr>
              <a:t>P + 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52160" y="2331720"/>
            <a:ext cx="54864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016752" y="2286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 = Precision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52160" y="2834640"/>
            <a:ext cx="54864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016752" y="2788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 = Recall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52160" y="3337560"/>
            <a:ext cx="54864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016752" y="3291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두 지표의 조화 평균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7  |  성능 향상을 위한 개선 전략 개요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73152" cy="10972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8A"/>
                </a:solidFill>
              </a:rPr>
              <a:t>🎯  개선 목표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Precision과 Recall의 균형 확보  |  F1-Score 중심 성능 개선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457200" cy="45720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19456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8A"/>
                </a:solidFill>
              </a:rPr>
              <a:t>확률 기반 예측과 의사결정 분리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53288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모델 출력 확률(probs)을 먼저 수집 후 최종 판정은 별도 단계에서 수행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02920" y="324612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029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10896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F1-Score 기반 임계값 최적화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44728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임계값 0.05~0.95 범위를 탐색하여 F1 최대가 되는 Best Threshold 선택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97764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02336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평가 단계에서만 임계값 적용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36168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학습·검증: 0.5 고정 / 최종 평가: Best Threshold 적용하여 Data Leakage 방지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8  |  개선 기법 ①  —  확률 기반 예측과 의사결정 분리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3931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39319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393192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기존 방식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32004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모델 출력 확률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0391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32004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즉시 0.5 기준 판정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8620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320040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315468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</a:rPr>
              <a:t>정보 손실 발생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92040" y="868680"/>
            <a:ext cx="3931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892040" y="868680"/>
            <a:ext cx="39319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92040" y="868680"/>
            <a:ext cx="393192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개선 방식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12080" y="1508760"/>
            <a:ext cx="32004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212080" y="15087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확률 수집 (probs)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20391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12080" y="2331720"/>
            <a:ext cx="32004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212080" y="233172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확률 저장 &amp; 분석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28620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212080" y="3154680"/>
            <a:ext cx="320040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212080" y="315468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</a:rPr>
              <a:t>최적 임계값 적용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F8A"/>
                </a:solidFill>
              </a:rPr>
              <a:t>📌  정보 손실 최소화 및 데이터 특성 반영 가능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9  |  개선 기법 ②  —  F1-Score 기반 임계값 최적화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114800" cy="4114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41148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적용 방법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384048" cy="38404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44475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임계값 0.05 ~ 0.95 범위 탐색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44144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40487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각 임계값마다 F1-Score 계산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40156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36499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F1 최대가 되는 Best Threshold 선택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09160" y="868680"/>
            <a:ext cx="41148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09160" y="868680"/>
            <a:ext cx="41148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장점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743200"/>
            <a:ext cx="274320" cy="411480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193792" y="2441448"/>
            <a:ext cx="274320" cy="71323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541264" y="2221992"/>
            <a:ext cx="274320" cy="93268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888736" y="2084832"/>
            <a:ext cx="274320" cy="106984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236208" y="2029968"/>
            <a:ext cx="274320" cy="112471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583680" y="1988820"/>
            <a:ext cx="274320" cy="11658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931152" y="2002536"/>
            <a:ext cx="274320" cy="1152144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278624" y="2112264"/>
            <a:ext cx="274320" cy="1042416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7626096" y="2331720"/>
            <a:ext cx="274320" cy="822960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973568" y="2578608"/>
            <a:ext cx="274320" cy="57607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492240" y="1371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</a:rPr>
              <a:t>→  Best Threshold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Threshold 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3611880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230368" y="35661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Precision–Recall 균형 자동 조정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92040" y="4178808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230368" y="413308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데이터 분포에 적합한 의사결정 기준 확보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10  |  개선 기법 ③  —  평가 단계에서만 임계값 적용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011680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학습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(Train)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Threshold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= 0.5 고정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0" y="10058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0" y="1005840"/>
            <a:ext cx="2011680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검증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(Validation)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15544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Threshold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= 0.5 고정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29200" y="10058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029200" y="1005840"/>
            <a:ext cx="201168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02920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테스트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(Test)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15544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Best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Threshold 적용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2606040"/>
            <a:ext cx="201168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0" y="2606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</a:rPr>
              <a:t>✅ 최적화된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</a:rPr>
              <a:t>성능 평가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8321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8368" y="37947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효과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" y="411480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데이터 누수(Data Leakage) 방지  |  공정하고 일반화 가능한 성능 평가 확보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11  |  성능 향상 결과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</a:rPr>
              <a:t>🏆  Best Threshold = 0.92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1600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1600200" cy="7315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F8A"/>
                </a:solidFill>
              </a:rPr>
              <a:t>98.50%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2651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20824" y="1691640"/>
            <a:ext cx="1600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020824" y="1691640"/>
            <a:ext cx="1600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020824" y="187452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</a:rPr>
              <a:t>77.14%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020824" y="2651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Precision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21608" y="1691640"/>
            <a:ext cx="1600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721608" y="1691640"/>
            <a:ext cx="1600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721608" y="187452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</a:rPr>
              <a:t>79.41%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721608" y="2651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Recall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22392" y="1691640"/>
            <a:ext cx="1600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422392" y="1691640"/>
            <a:ext cx="1600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422392" y="187452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78.26%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22392" y="2651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F1-Score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23176" y="1691640"/>
            <a:ext cx="1600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123176" y="1691640"/>
            <a:ext cx="16002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123176" y="187452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</a:rPr>
              <a:t>98.50%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123176" y="2651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ROC-AUC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61188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20040" y="3611880"/>
            <a:ext cx="26517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20040" y="3749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91B2"/>
                </a:solidFill>
              </a:rPr>
              <a:t>오탐 감소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20040" y="4251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Precision 상승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54680" y="361188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154680" y="3611880"/>
            <a:ext cx="26517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154680" y="3749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</a:rPr>
              <a:t>고장 탐지 유지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154680" y="4251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Recall 유지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89320" y="361188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5989320" y="361188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989320" y="3749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</a:rPr>
              <a:t>F1-Score 대폭 개선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989320" y="4251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균형 달성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Slide 12  |  성능 향상 원인 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39319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393192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모델 구조 변경 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E2E8F0"/>
                </a:solidFill>
              </a:rPr>
              <a:t>변경 없음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32004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구조, 파라미터, 학습 설정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모두 동일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86868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17720" y="868680"/>
            <a:ext cx="42062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17720" y="868680"/>
            <a:ext cx="420624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평가 전략 개선 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1508760"/>
            <a:ext cx="54864" cy="5029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983480" y="1463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확률 기반 예측 분리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233172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98348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F1 최적 임계값 = 0.92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3154680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983480" y="3108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공정한 평가 단계 설계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</a:rPr>
              <a:t>📌  모델 성능 = 모델 + 평가 전략  |  ROC-AUC가 높을수록 임계값 튜닝 효과 극대화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종합 결론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73152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베이스라인 모델의 성능 불균형은 데이터 불균형 및 고정 임계값 사용에서 기인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86868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73152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F1-Score 기반 임계값 최적화를 통해 Precision과 Recall의 균형 확보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8229600" cy="86868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94360" y="3429000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3429000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예측 유지보수 관점에서 실용적인 모델 성능 달성 (F1 0.78, AUC 0.985)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798</Words>
  <Application>Microsoft Office PowerPoint</Application>
  <PresentationFormat>화면 슬라이드 쇼(16:9)</PresentationFormat>
  <Paragraphs>202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예측 유지보수 모델 실습</dc:title>
  <dc:subject>PptxGenJS Presentation</dc:subject>
  <dc:creator>PptxGenJS</dc:creator>
  <cp:lastModifiedBy>gunwoo kim</cp:lastModifiedBy>
  <cp:revision>2</cp:revision>
  <dcterms:created xsi:type="dcterms:W3CDTF">2026-04-13T07:34:14Z</dcterms:created>
  <dcterms:modified xsi:type="dcterms:W3CDTF">2026-04-13T07:40:55Z</dcterms:modified>
</cp:coreProperties>
</file>